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8.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9.xml" ContentType="application/vnd.openxmlformats-officedocument.presentationml.notesSlide+xml"/>
  <Override PartName="/ppt/charts/chart8.xml" ContentType="application/vnd.openxmlformats-officedocument.drawingml.chart+xml"/>
  <Override PartName="/ppt/notesSlides/notesSlide10.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11.xml" ContentType="application/vnd.openxmlformats-officedocument.presentationml.notesSlide+xml"/>
  <Override PartName="/ppt/charts/chart1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0" d="100"/>
          <a:sy n="70" d="100"/>
        </p:scale>
        <p:origin x="512"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Share</c:v>
                </c:pt>
              </c:strCache>
            </c:strRef>
          </c:tx>
          <c:cat>
            <c:strRef>
              <c:f>Sheet1!$A$2:$A$4</c:f>
              <c:strCache>
                <c:ptCount val="3"/>
                <c:pt idx="0">
                  <c:v>Male</c:v>
                </c:pt>
                <c:pt idx="1">
                  <c:v>Female</c:v>
                </c:pt>
                <c:pt idx="2">
                  <c:v>Other</c:v>
                </c:pt>
              </c:strCache>
            </c:strRef>
          </c:cat>
          <c:val>
            <c:numRef>
              <c:f>Sheet1!$B$2:$B$4</c:f>
              <c:numCache>
                <c:formatCode>General</c:formatCode>
                <c:ptCount val="3"/>
                <c:pt idx="0">
                  <c:v>52</c:v>
                </c:pt>
                <c:pt idx="1">
                  <c:v>44</c:v>
                </c:pt>
                <c:pt idx="2">
                  <c:v>4</c:v>
                </c:pt>
              </c:numCache>
            </c:numRef>
          </c:val>
          <c:extLst>
            <c:ext xmlns:c16="http://schemas.microsoft.com/office/drawing/2014/chart" uri="{C3380CC4-5D6E-409C-BE32-E72D297353CC}">
              <c16:uniqueId val="{00000000-0807-4D42-B59E-456A4344A23E}"/>
            </c:ext>
          </c:extLst>
        </c:ser>
        <c:dLbls>
          <c:showLegendKey val="0"/>
          <c:showVal val="0"/>
          <c:showCatName val="0"/>
          <c:showSerName val="0"/>
          <c:showPercent val="0"/>
          <c:showBubbleSize val="0"/>
          <c:showLeaderLines val="1"/>
        </c:dLbls>
        <c:firstSliceAng val="0"/>
        <c:holeSize val="50"/>
      </c:doughnutChart>
    </c:plotArea>
    <c:legend>
      <c:legendPos val="b"/>
      <c:overlay val="0"/>
      <c:txPr>
        <a:bodyPr/>
        <a:lstStyle/>
        <a:p>
          <a:pPr>
            <a:defRPr sz="900">
              <a:solidFill>
                <a:srgbClr val="0A101F"/>
              </a:solidFil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c:v>
                </c:pt>
              </c:strCache>
            </c:strRef>
          </c:tx>
          <c:spPr>
            <a:solidFill>
              <a:srgbClr val="1E4FB5"/>
            </a:solidFill>
            <a:ln>
              <a:noFill/>
            </a:ln>
          </c:spPr>
          <c:invertIfNegative val="1"/>
          <c:dLbls>
            <c:numFmt formatCode="0.0&quot;%&quot;" sourceLinked="0"/>
            <c:spPr>
              <a:noFill/>
              <a:ln>
                <a:noFill/>
              </a:ln>
              <a:effectLst/>
            </c:spPr>
            <c:txPr>
              <a:bodyPr/>
              <a:lstStyle/>
              <a:p>
                <a:pPr>
                  <a:defRPr sz="900" b="1">
                    <a:solidFill>
                      <a:srgbClr val="0A101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18-25</c:v>
                </c:pt>
                <c:pt idx="1">
                  <c:v>26-35</c:v>
                </c:pt>
                <c:pt idx="2">
                  <c:v>36-45</c:v>
                </c:pt>
                <c:pt idx="3">
                  <c:v>46-60</c:v>
                </c:pt>
                <c:pt idx="4">
                  <c:v>60+</c:v>
                </c:pt>
              </c:strCache>
            </c:strRef>
          </c:cat>
          <c:val>
            <c:numRef>
              <c:f>Sheet1!$B$2:$B$6</c:f>
              <c:numCache>
                <c:formatCode>General</c:formatCode>
                <c:ptCount val="5"/>
                <c:pt idx="0">
                  <c:v>29.3</c:v>
                </c:pt>
                <c:pt idx="1">
                  <c:v>34.700000000000003</c:v>
                </c:pt>
                <c:pt idx="2">
                  <c:v>18.7</c:v>
                </c:pt>
                <c:pt idx="3">
                  <c:v>12</c:v>
                </c:pt>
                <c:pt idx="4">
                  <c:v>5.3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2BF-44E0-9608-2FF75CBB53C4}"/>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0A101F"/>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000">
                <a:solidFill>
                  <a:srgbClr val="0A101F"/>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Share</c:v>
                </c:pt>
              </c:strCache>
            </c:strRef>
          </c:tx>
          <c:cat>
            <c:strRef>
              <c:f>Sheet1!$A$2:$A$4</c:f>
              <c:strCache>
                <c:ptCount val="3"/>
                <c:pt idx="0">
                  <c:v>Urban</c:v>
                </c:pt>
                <c:pt idx="1">
                  <c:v>Semi-Urban</c:v>
                </c:pt>
                <c:pt idx="2">
                  <c:v>Rural</c:v>
                </c:pt>
              </c:strCache>
            </c:strRef>
          </c:cat>
          <c:val>
            <c:numRef>
              <c:f>Sheet1!$B$2:$B$4</c:f>
              <c:numCache>
                <c:formatCode>General</c:formatCode>
                <c:ptCount val="3"/>
                <c:pt idx="0">
                  <c:v>50.7</c:v>
                </c:pt>
                <c:pt idx="1">
                  <c:v>31.3</c:v>
                </c:pt>
                <c:pt idx="2">
                  <c:v>18</c:v>
                </c:pt>
              </c:numCache>
            </c:numRef>
          </c:val>
          <c:extLst>
            <c:ext xmlns:c16="http://schemas.microsoft.com/office/drawing/2014/chart" uri="{C3380CC4-5D6E-409C-BE32-E72D297353CC}">
              <c16:uniqueId val="{00000000-5CBA-4DAC-9251-AD4781995F0A}"/>
            </c:ext>
          </c:extLst>
        </c:ser>
        <c:dLbls>
          <c:showLegendKey val="0"/>
          <c:showVal val="0"/>
          <c:showCatName val="0"/>
          <c:showSerName val="0"/>
          <c:showPercent val="0"/>
          <c:showBubbleSize val="0"/>
          <c:showLeaderLines val="1"/>
        </c:dLbls>
        <c:firstSliceAng val="0"/>
        <c:holeSize val="50"/>
      </c:doughnutChart>
    </c:plotArea>
    <c:legend>
      <c:legendPos val="b"/>
      <c:overlay val="0"/>
      <c:txPr>
        <a:bodyPr/>
        <a:lstStyle/>
        <a:p>
          <a:pPr>
            <a:defRPr sz="900">
              <a:solidFill>
                <a:srgbClr val="0A101F"/>
              </a:solidFil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c:v>
                </c:pt>
              </c:strCache>
            </c:strRef>
          </c:tx>
          <c:spPr>
            <a:solidFill>
              <a:srgbClr val="22A06B"/>
            </a:solidFill>
            <a:ln>
              <a:noFill/>
            </a:ln>
          </c:spPr>
          <c:invertIfNegative val="1"/>
          <c:dLbls>
            <c:numFmt formatCode="0.0&quot;%&quot;" sourceLinked="0"/>
            <c:spPr>
              <a:noFill/>
              <a:ln>
                <a:noFill/>
              </a:ln>
              <a:effectLst/>
            </c:spPr>
            <c:txPr>
              <a:bodyPr/>
              <a:lstStyle/>
              <a:p>
                <a:pPr>
                  <a:defRPr sz="900" b="1">
                    <a:solidFill>
                      <a:srgbClr val="0A101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Below Grad</c:v>
                </c:pt>
                <c:pt idx="1">
                  <c:v>Graduate</c:v>
                </c:pt>
                <c:pt idx="2">
                  <c:v>Post-Grad</c:v>
                </c:pt>
                <c:pt idx="3">
                  <c:v>Professional</c:v>
                </c:pt>
              </c:strCache>
            </c:strRef>
          </c:cat>
          <c:val>
            <c:numRef>
              <c:f>Sheet1!$B$2:$B$5</c:f>
              <c:numCache>
                <c:formatCode>General</c:formatCode>
                <c:ptCount val="4"/>
                <c:pt idx="0">
                  <c:v>14.7</c:v>
                </c:pt>
                <c:pt idx="1">
                  <c:v>38.700000000000003</c:v>
                </c:pt>
                <c:pt idx="2">
                  <c:v>30.7</c:v>
                </c:pt>
                <c:pt idx="3">
                  <c:v>16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D0A7-4BF4-BE63-135F5E16B66E}"/>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0A101F"/>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000">
                <a:solidFill>
                  <a:srgbClr val="0A101F"/>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Share</c:v>
                </c:pt>
              </c:strCache>
            </c:strRef>
          </c:tx>
          <c:cat>
            <c:strRef>
              <c:f>Sheet1!$A$2:$A$5</c:f>
              <c:strCache>
                <c:ptCount val="4"/>
                <c:pt idx="0">
                  <c:v>Very Aware</c:v>
                </c:pt>
                <c:pt idx="1">
                  <c:v>Aware</c:v>
                </c:pt>
                <c:pt idx="2">
                  <c:v>Somewhat</c:v>
                </c:pt>
                <c:pt idx="3">
                  <c:v>Not Aware</c:v>
                </c:pt>
              </c:strCache>
            </c:strRef>
          </c:cat>
          <c:val>
            <c:numRef>
              <c:f>Sheet1!$B$2:$B$5</c:f>
              <c:numCache>
                <c:formatCode>General</c:formatCode>
                <c:ptCount val="4"/>
                <c:pt idx="0">
                  <c:v>36</c:v>
                </c:pt>
                <c:pt idx="1">
                  <c:v>38.700000000000003</c:v>
                </c:pt>
                <c:pt idx="2">
                  <c:v>18.7</c:v>
                </c:pt>
                <c:pt idx="3">
                  <c:v>6.7</c:v>
                </c:pt>
              </c:numCache>
            </c:numRef>
          </c:val>
          <c:extLst>
            <c:ext xmlns:c16="http://schemas.microsoft.com/office/drawing/2014/chart" uri="{C3380CC4-5D6E-409C-BE32-E72D297353CC}">
              <c16:uniqueId val="{00000000-34AD-4D9F-9726-5DAA4DFFACB4}"/>
            </c:ext>
          </c:extLst>
        </c:ser>
        <c:dLbls>
          <c:showLegendKey val="0"/>
          <c:showVal val="0"/>
          <c:showCatName val="0"/>
          <c:showSerName val="0"/>
          <c:showPercent val="0"/>
          <c:showBubbleSize val="0"/>
          <c:showLeaderLines val="1"/>
        </c:dLbls>
        <c:firstSliceAng val="0"/>
        <c:holeSize val="50"/>
      </c:doughnutChart>
    </c:plotArea>
    <c:legend>
      <c:legendPos val="b"/>
      <c:overlay val="0"/>
      <c:txPr>
        <a:bodyPr/>
        <a:lstStyle/>
        <a:p>
          <a:pPr>
            <a:defRPr sz="900">
              <a:solidFill>
                <a:srgbClr val="0A101F"/>
              </a:solidFill>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c:v>
                </c:pt>
              </c:strCache>
            </c:strRef>
          </c:tx>
          <c:spPr>
            <a:solidFill>
              <a:srgbClr val="1E4FB5"/>
            </a:solidFill>
            <a:ln>
              <a:noFill/>
            </a:ln>
          </c:spPr>
          <c:invertIfNegative val="1"/>
          <c:dLbls>
            <c:numFmt formatCode="0.0&quot;%&quot;" sourceLinked="0"/>
            <c:spPr>
              <a:noFill/>
              <a:ln>
                <a:noFill/>
              </a:ln>
              <a:effectLst/>
            </c:spPr>
            <c:txPr>
              <a:bodyPr/>
              <a:lstStyle/>
              <a:p>
                <a:pPr>
                  <a:defRPr sz="900" b="1">
                    <a:solidFill>
                      <a:srgbClr val="0A101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Daily</c:v>
                </c:pt>
                <c:pt idx="1">
                  <c:v>Weekly</c:v>
                </c:pt>
                <c:pt idx="2">
                  <c:v>Monthly</c:v>
                </c:pt>
                <c:pt idx="3">
                  <c:v>Rarely</c:v>
                </c:pt>
                <c:pt idx="4">
                  <c:v>Never</c:v>
                </c:pt>
              </c:strCache>
            </c:strRef>
          </c:cat>
          <c:val>
            <c:numRef>
              <c:f>Sheet1!$B$2:$B$6</c:f>
              <c:numCache>
                <c:formatCode>General</c:formatCode>
                <c:ptCount val="5"/>
                <c:pt idx="0">
                  <c:v>25.3</c:v>
                </c:pt>
                <c:pt idx="1">
                  <c:v>36.700000000000003</c:v>
                </c:pt>
                <c:pt idx="2">
                  <c:v>21.3</c:v>
                </c:pt>
                <c:pt idx="3">
                  <c:v>12</c:v>
                </c:pt>
                <c:pt idx="4">
                  <c:v>4.7</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D79-49BC-B267-6062E348A692}"/>
            </c:ext>
          </c:extLst>
        </c:ser>
        <c:dLbls>
          <c:dLblPos val="outEnd"/>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0A101F"/>
                </a:solidFill>
              </a:defRPr>
            </a:pPr>
            <a:endParaRPr lang="en-US"/>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000">
                <a:solidFill>
                  <a:srgbClr val="0A101F"/>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Score</c:v>
                </c:pt>
              </c:strCache>
            </c:strRef>
          </c:tx>
          <c:spPr>
            <a:solidFill>
              <a:srgbClr val="22A06B"/>
            </a:solidFill>
            <a:ln>
              <a:noFill/>
            </a:ln>
          </c:spPr>
          <c:invertIfNegative val="1"/>
          <c:dLbls>
            <c:numFmt formatCode="0.0&quot;%&quot;" sourceLinked="0"/>
            <c:spPr>
              <a:noFill/>
              <a:ln>
                <a:noFill/>
              </a:ln>
              <a:effectLst/>
            </c:spPr>
            <c:txPr>
              <a:bodyPr/>
              <a:lstStyle/>
              <a:p>
                <a:pPr>
                  <a:defRPr sz="900" b="1">
                    <a:solidFill>
                      <a:srgbClr val="0A101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YONO Krishi</c:v>
                </c:pt>
                <c:pt idx="1">
                  <c:v>Investments</c:v>
                </c:pt>
                <c:pt idx="2">
                  <c:v>Lifestyle</c:v>
                </c:pt>
                <c:pt idx="3">
                  <c:v>Loans</c:v>
                </c:pt>
                <c:pt idx="4">
                  <c:v>YONO Cash</c:v>
                </c:pt>
                <c:pt idx="5">
                  <c:v>Bill Pay</c:v>
                </c:pt>
                <c:pt idx="6">
                  <c:v>Balance</c:v>
                </c:pt>
                <c:pt idx="7">
                  <c:v>Fund Transfer</c:v>
                </c:pt>
              </c:strCache>
            </c:strRef>
          </c:cat>
          <c:val>
            <c:numRef>
              <c:f>Sheet1!$B$2:$B$9</c:f>
              <c:numCache>
                <c:formatCode>General</c:formatCode>
                <c:ptCount val="8"/>
                <c:pt idx="0">
                  <c:v>12</c:v>
                </c:pt>
                <c:pt idx="1">
                  <c:v>29.3</c:v>
                </c:pt>
                <c:pt idx="2">
                  <c:v>36</c:v>
                </c:pt>
                <c:pt idx="3">
                  <c:v>44</c:v>
                </c:pt>
                <c:pt idx="4">
                  <c:v>51.3</c:v>
                </c:pt>
                <c:pt idx="5">
                  <c:v>74</c:v>
                </c:pt>
                <c:pt idx="6">
                  <c:v>82</c:v>
                </c:pt>
                <c:pt idx="7">
                  <c:v>88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DC7-4FDB-83DD-561650E63C28}"/>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000">
                <a:solidFill>
                  <a:srgbClr val="0A101F"/>
                </a:solidFill>
              </a:defRPr>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000">
                <a:solidFill>
                  <a:srgbClr val="0A101F"/>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Score</c:v>
                </c:pt>
              </c:strCache>
            </c:strRef>
          </c:tx>
          <c:spPr>
            <a:solidFill>
              <a:srgbClr val="22A06B"/>
            </a:solidFill>
            <a:ln>
              <a:noFill/>
            </a:ln>
          </c:spPr>
          <c:invertIfNegative val="1"/>
          <c:dLbls>
            <c:numFmt formatCode="0.00" sourceLinked="0"/>
            <c:spPr>
              <a:noFill/>
              <a:ln>
                <a:noFill/>
              </a:ln>
              <a:effectLst/>
            </c:spPr>
            <c:txPr>
              <a:bodyPr/>
              <a:lstStyle/>
              <a:p>
                <a:pPr>
                  <a:defRPr sz="900" b="1">
                    <a:solidFill>
                      <a:srgbClr val="0A101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Helpful for investments</c:v>
                </c:pt>
                <c:pt idx="1">
                  <c:v>Useful for loans</c:v>
                </c:pt>
                <c:pt idx="2">
                  <c:v>Improves financial mgmt</c:v>
                </c:pt>
                <c:pt idx="3">
                  <c:v>All-in-one platform</c:v>
                </c:pt>
                <c:pt idx="4">
                  <c:v>Overall useful banking app</c:v>
                </c:pt>
                <c:pt idx="5">
                  <c:v>Fund transfer easy/reliable</c:v>
                </c:pt>
                <c:pt idx="6">
                  <c:v>Saves time vs branch</c:v>
                </c:pt>
              </c:strCache>
            </c:strRef>
          </c:cat>
          <c:val>
            <c:numRef>
              <c:f>Sheet1!$B$2:$B$8</c:f>
              <c:numCache>
                <c:formatCode>General</c:formatCode>
                <c:ptCount val="7"/>
                <c:pt idx="0">
                  <c:v>3.61</c:v>
                </c:pt>
                <c:pt idx="1">
                  <c:v>3.72</c:v>
                </c:pt>
                <c:pt idx="2">
                  <c:v>3.84</c:v>
                </c:pt>
                <c:pt idx="3">
                  <c:v>3.97</c:v>
                </c:pt>
                <c:pt idx="4">
                  <c:v>4.0199999999999996</c:v>
                </c:pt>
                <c:pt idx="5">
                  <c:v>4.18</c:v>
                </c:pt>
                <c:pt idx="6">
                  <c:v>4.3099999999999996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6EFC-41EA-910C-6FF7F583543E}"/>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000">
                <a:solidFill>
                  <a:srgbClr val="0A101F"/>
                </a:solidFill>
              </a:defRPr>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000">
                <a:solidFill>
                  <a:srgbClr val="0A101F"/>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Score</c:v>
                </c:pt>
              </c:strCache>
            </c:strRef>
          </c:tx>
          <c:spPr>
            <a:solidFill>
              <a:srgbClr val="1E4FB5"/>
            </a:solidFill>
            <a:ln>
              <a:noFill/>
            </a:ln>
          </c:spPr>
          <c:invertIfNegative val="1"/>
          <c:dLbls>
            <c:numFmt formatCode="0.00" sourceLinked="0"/>
            <c:spPr>
              <a:noFill/>
              <a:ln>
                <a:noFill/>
              </a:ln>
              <a:effectLst/>
            </c:spPr>
            <c:txPr>
              <a:bodyPr/>
              <a:lstStyle/>
              <a:p>
                <a:pPr>
                  <a:defRPr sz="900" b="1">
                    <a:solidFill>
                      <a:srgbClr val="0A101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Help &amp; support</c:v>
                </c:pt>
                <c:pt idx="1">
                  <c:v>Registration</c:v>
                </c:pt>
                <c:pt idx="2">
                  <c:v>App speed</c:v>
                </c:pt>
                <c:pt idx="3">
                  <c:v>Login process</c:v>
                </c:pt>
                <c:pt idx="4">
                  <c:v>Transaction confirm</c:v>
                </c:pt>
                <c:pt idx="5">
                  <c:v>Easy to navigate</c:v>
                </c:pt>
              </c:strCache>
            </c:strRef>
          </c:cat>
          <c:val>
            <c:numRef>
              <c:f>Sheet1!$B$2:$B$7</c:f>
              <c:numCache>
                <c:formatCode>General</c:formatCode>
                <c:ptCount val="6"/>
                <c:pt idx="0">
                  <c:v>3.19</c:v>
                </c:pt>
                <c:pt idx="1">
                  <c:v>3.21</c:v>
                </c:pt>
                <c:pt idx="2">
                  <c:v>3.42</c:v>
                </c:pt>
                <c:pt idx="3">
                  <c:v>3.64</c:v>
                </c:pt>
                <c:pt idx="4">
                  <c:v>3.78</c:v>
                </c:pt>
                <c:pt idx="5">
                  <c:v>3.86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FD17-43FF-B463-1864AC556815}"/>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000">
                <a:solidFill>
                  <a:srgbClr val="0A101F"/>
                </a:solidFill>
              </a:defRPr>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000">
                <a:solidFill>
                  <a:srgbClr val="0A101F"/>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Score</c:v>
                </c:pt>
              </c:strCache>
            </c:strRef>
          </c:tx>
          <c:spPr>
            <a:solidFill>
              <a:srgbClr val="FFB83B"/>
            </a:solidFill>
            <a:ln>
              <a:noFill/>
            </a:ln>
          </c:spPr>
          <c:invertIfNegative val="1"/>
          <c:dLbls>
            <c:numFmt formatCode="0&quot;%&quot;" sourceLinked="0"/>
            <c:spPr>
              <a:noFill/>
              <a:ln>
                <a:noFill/>
              </a:ln>
              <a:effectLst/>
            </c:spPr>
            <c:txPr>
              <a:bodyPr/>
              <a:lstStyle/>
              <a:p>
                <a:pPr>
                  <a:defRPr sz="900" b="1">
                    <a:solidFill>
                      <a:srgbClr val="0A101F"/>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Fewer features vs private</c:v>
                </c:pt>
                <c:pt idx="1">
                  <c:v>Security &amp; fraud</c:v>
                </c:pt>
                <c:pt idx="2">
                  <c:v>OTP / login fail</c:v>
                </c:pt>
                <c:pt idx="3">
                  <c:v>Difficult registration</c:v>
                </c:pt>
                <c:pt idx="4">
                  <c:v>App crashes / slow</c:v>
                </c:pt>
              </c:strCache>
            </c:strRef>
          </c:cat>
          <c:val>
            <c:numRef>
              <c:f>Sheet1!$B$2:$B$6</c:f>
              <c:numCache>
                <c:formatCode>General</c:formatCode>
                <c:ptCount val="5"/>
                <c:pt idx="0">
                  <c:v>38</c:v>
                </c:pt>
                <c:pt idx="1">
                  <c:v>43.3</c:v>
                </c:pt>
                <c:pt idx="2">
                  <c:v>49.3</c:v>
                </c:pt>
                <c:pt idx="3">
                  <c:v>54</c:v>
                </c:pt>
                <c:pt idx="4">
                  <c:v>62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9AC-4CA3-8425-FDC4216AB5EC}"/>
            </c:ext>
          </c:extLst>
        </c:ser>
        <c:dLbls>
          <c:dLblPos val="outEnd"/>
          <c:showLegendKey val="0"/>
          <c:showVal val="1"/>
          <c:showCatName val="0"/>
          <c:showSerName val="0"/>
          <c:showPercent val="0"/>
          <c:showBubbleSize val="0"/>
        </c:dLbls>
        <c:gapWidth val="7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000">
                <a:solidFill>
                  <a:srgbClr val="0A101F"/>
                </a:solidFill>
              </a:defRPr>
            </a:pPr>
            <a:endParaRPr lang="en-US"/>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000">
                <a:solidFill>
                  <a:srgbClr val="0A101F"/>
                </a:solidFill>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pt idx="0">
                  <c:v>%</c:v>
                </c:pt>
              </c:strCache>
            </c:strRef>
          </c:tx>
          <c:dLbls>
            <c:numFmt formatCode="0.0&quot;%&quot;" sourceLinked="0"/>
            <c:spPr>
              <a:noFill/>
              <a:ln>
                <a:noFill/>
              </a:ln>
              <a:effectLst/>
            </c:spPr>
            <c:txPr>
              <a:bodyPr/>
              <a:lstStyle/>
              <a:p>
                <a:pPr>
                  <a:defRPr sz="800" b="1">
                    <a:solidFill>
                      <a:srgbClr val="0A101F"/>
                    </a:solidFill>
                  </a:defRPr>
                </a:pPr>
                <a:endParaRPr lang="en-US"/>
              </a:p>
            </c:txPr>
            <c:showLegendKey val="0"/>
            <c:showVal val="1"/>
            <c:showCatName val="0"/>
            <c:showSerName val="0"/>
            <c:showPercent val="0"/>
            <c:showBubbleSize val="0"/>
            <c:showLeaderLines val="1"/>
            <c:extLst>
              <c:ext xmlns:c15="http://schemas.microsoft.com/office/drawing/2012/chart" uri="{CE6537A1-D6FC-4f65-9D91-7224C49458BB}"/>
            </c:extLst>
          </c:dLbls>
          <c:cat>
            <c:strRef>
              <c:f>Sheet1!$A$2:$A$6</c:f>
              <c:strCache>
                <c:ptCount val="5"/>
                <c:pt idx="0">
                  <c:v>Very Satisfied</c:v>
                </c:pt>
                <c:pt idx="1">
                  <c:v>Satisfied</c:v>
                </c:pt>
                <c:pt idx="2">
                  <c:v>Neutral</c:v>
                </c:pt>
                <c:pt idx="3">
                  <c:v>Dissatisfied</c:v>
                </c:pt>
                <c:pt idx="4">
                  <c:v>Very Dissatisfied</c:v>
                </c:pt>
              </c:strCache>
            </c:strRef>
          </c:cat>
          <c:val>
            <c:numRef>
              <c:f>Sheet1!$B$2:$B$6</c:f>
              <c:numCache>
                <c:formatCode>General</c:formatCode>
                <c:ptCount val="5"/>
                <c:pt idx="0">
                  <c:v>21.3</c:v>
                </c:pt>
                <c:pt idx="1">
                  <c:v>38.700000000000003</c:v>
                </c:pt>
                <c:pt idx="2">
                  <c:v>25.3</c:v>
                </c:pt>
                <c:pt idx="3">
                  <c:v>10.7</c:v>
                </c:pt>
                <c:pt idx="4">
                  <c:v>4</c:v>
                </c:pt>
              </c:numCache>
            </c:numRef>
          </c:val>
          <c:extLst>
            <c:ext xmlns:c16="http://schemas.microsoft.com/office/drawing/2014/chart" uri="{C3380CC4-5D6E-409C-BE32-E72D297353CC}">
              <c16:uniqueId val="{00000000-A612-4291-9151-98FDE238BF01}"/>
            </c:ext>
          </c:extLst>
        </c:ser>
        <c:dLbls>
          <c:showLegendKey val="0"/>
          <c:showVal val="1"/>
          <c:showCatName val="0"/>
          <c:showSerName val="0"/>
          <c:showPercent val="0"/>
          <c:showBubbleSize val="0"/>
          <c:showLeaderLines val="1"/>
        </c:dLbls>
        <c:firstSliceAng val="0"/>
      </c:pieChart>
    </c:plotArea>
    <c:legend>
      <c:legendPos val="b"/>
      <c:overlay val="0"/>
      <c:txPr>
        <a:bodyPr/>
        <a:lstStyle/>
        <a:p>
          <a:pPr>
            <a:defRPr sz="900">
              <a:solidFill>
                <a:srgbClr val="0A101F"/>
              </a:solidFill>
            </a:defRPr>
          </a:pPr>
          <a:endParaRPr lang="en-US"/>
        </a:p>
      </c:txPr>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9094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panel. I am Shalini Bharati, MBA Finance and HR, Enrollment O24MBA111548. My research project, undertaken at Chandigarh University under the guidance of Neha Bajaj, examines digital banking in India through the YONO SBI case. The study combines a primary survey of 150 YONO users with secondary data from RBI, SBI, and the Department of Financial Services to address five research objectives I will walk through in the next 10-12 minutes.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will move from macro industry context down to slide-level findings, and synthesise everything into stakeholder-specific recommendations. The seven sections map directly to my five research objectives, with primary data analysis in the middle and YONO 2.0 case insights as the strategic capstone before recommendations.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Objective 1 of the study: digital banking in India is no longer a future story. UPI alone grew at 129% CAGR to 13,116 crore transactions, putting India at 48.5% of global real-time payments. YONO is the response of a 218-year-old public-sector institution to that wave - 9.60 crore users today, world's largest neobank by MAUs in 2021, and the subject of this case study.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project is positioned as a financial-management story, not just a technology story. That framing is the central contribution. The five objectives drive the literature review, the survey instrument, and every recommendation. The research questions span both customer-level adoption and institutional transformation - that is what makes the YONO case rich.</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conceptual framework synthesises TAM, UTAUT, and Diffusion of Innovations, layered with a financial-inclusion lens. Five representative studies are highlighted here. The research gap is clear: no comprehensive institution-specific study of a public-sector super-app like YONO that connects technology adoption to financial-management implications - and that is the gap this project addresses.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Sample size of 150 satisfies Hair et al. (2010)'s threshold of 5 observations per item. Cronbach's Alpha of 0.83 is good - well above the 0.70 threshold from Nunnally. Together with secondary data from RBI, SBI, and DFS, this gives a defensible empirical base for the analysis you will see in the next several slides.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strategic numbers: 64% of the sample is under 36 - YONO's core audience. And 49.3% are semi-urban or rural - precisely the segment YONO 2.0 targets with its lightweight architecture and 15-language rollout. The demographic mix is broad enough to draw meaningful conclusions.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lenses on engagement. Awareness is high - 74.7%. Habitual use is also strong - 62% weekly. But the feature mix tells a different story: 88% use fund transfer but only 12% use YONO Krishi and 29% use investments. These features exist; users have not been guided to them. That is the discovery gap that contextual nudges in YONO 2.0 can close.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seven perceived-usefulness items score above the neutral midpoint of 3.5. Time-saving versus branch visits is the killer use case at 4.31. Investment guidance is the weakest at 3.61, mirroring the 29% feature adoption from the previous slide. Net of all items, the 3.95 composite confirms users see real value - the next question is whether it is easy to extract.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Composite ease-of-use is 3.52 against usefulness of 3.95 - a clear 0.43-point gap. The two lowest items - help &amp; support at 3.19 and registration at 3.21 - are also the most cited challenges. Each of the top three challenges is a direct trigger for the YONO 2.0 redesign.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Sixty percent positive is respectable, but the 25% neutral block is the highest-leverage segment in the deck. Moving even half of them to satisfied would push YONO past 70% - the typical threshold for best-in-class private-sector banking apps. The 14.7% dissatisfied represents direct churn risk.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All four alternative hypotheses are accepted. Usefulness is the strongest predictor at Beta 0.38. Ease of use is second at 0.31 - and most actionable. Security at 0.22 is independent, which means it is not a hygiene factor but a real satisfaction driver. The regression model explains 75.5% of variance in satisfaction - a strong fit for social-science research.</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YONO 2.0 is a textbook example of using data to redesign a product. Every flagship YONO 2.0 feature on the left maps directly to a weakness on the right - app crashes addressed by the unified lightweight stack, hard registration by the 6,500 onboarding staff and 15-language support, the satisfaction gap by the new in-app tools. The findings collectively address all five research objectives.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Twelve recommendations across four stakeholder groups, each traceable to a specific data point. The most immediate ones for SBI are the registration redesign, the uptime SLA, and YONO Silver Mode for older users. For the sector, behavioural credit scoring on UPI data is the most transformative. For regulators, the Account Aggregator rollout and 24-hour cyber disclosure. For MBA students, data literacy is non-negotiable.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have acknowledged five limitations openly - chief among them the modest sample of 150 and the English-only instrument. The conclusion is that digital banking in India is now a present reality and that YONO 2.0 will be judged on execution quality on three dimensions - usefulness, ease of use, and security. Thank you for your attention. I welcome any questions on the chapters, the methodology, or the recommendations.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chart" Target="../charts/chart7.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chart" Target="../charts/char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flip="none" rotWithShape="1">
            <a:gsLst>
              <a:gs pos="0">
                <a:srgbClr val="0A1F44"/>
              </a:gs>
              <a:gs pos="45000">
                <a:srgbClr val="1E4FB5"/>
              </a:gs>
              <a:gs pos="100000">
                <a:srgbClr val="2E5BFF"/>
              </a:gs>
            </a:gsLst>
            <a:lin ang="81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1371600"/>
            <a:ext cx="5486400" cy="5486400"/>
          </a:xfrm>
          <a:prstGeom prst="ellipse">
            <a:avLst/>
          </a:prstGeom>
          <a:solidFill>
            <a:srgbClr val="00C8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229600" y="3657600"/>
            <a:ext cx="6400800" cy="6400800"/>
          </a:xfrm>
          <a:prstGeom prst="ellipse">
            <a:avLst/>
          </a:prstGeom>
          <a:solidFill>
            <a:srgbClr val="22A06B">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4114800" y="2286000"/>
            <a:ext cx="2743200" cy="2743200"/>
          </a:xfrm>
          <a:prstGeom prst="ellipse">
            <a:avLst/>
          </a:prstGeom>
          <a:solidFill>
            <a:srgbClr val="9EE54D">
              <a:alpha val="1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169767" y="301752"/>
            <a:ext cx="5852160" cy="749808"/>
          </a:xfrm>
          <a:prstGeom prst="roundRect">
            <a:avLst>
              <a:gd name="adj" fmla="val 18000"/>
            </a:avLst>
          </a:prstGeom>
          <a:solidFill>
            <a:srgbClr val="FFFFFF"/>
          </a:solidFill>
          <a:ln>
            <a:noFill/>
          </a:ln>
          <a:effectLst>
            <a:outerShdw blurRad="228600" dist="50800" dir="2700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cu_logo.png"/>
          <p:cNvPicPr>
            <a:picLocks noChangeAspect="1"/>
          </p:cNvPicPr>
          <p:nvPr/>
        </p:nvPicPr>
        <p:blipFill>
          <a:blip r:embed="rId3"/>
          <a:stretch>
            <a:fillRect/>
          </a:stretch>
        </p:blipFill>
        <p:spPr>
          <a:xfrm>
            <a:off x="3352647" y="411480"/>
            <a:ext cx="5486400" cy="530352"/>
          </a:xfrm>
          <a:prstGeom prst="rect">
            <a:avLst/>
          </a:prstGeom>
        </p:spPr>
      </p:pic>
      <p:sp>
        <p:nvSpPr>
          <p:cNvPr id="8" name="TextBox 7"/>
          <p:cNvSpPr txBox="1"/>
          <p:nvPr/>
        </p:nvSpPr>
        <p:spPr>
          <a:xfrm>
            <a:off x="457200" y="1874519"/>
            <a:ext cx="11277295" cy="1828800"/>
          </a:xfrm>
          <a:prstGeom prst="rect">
            <a:avLst/>
          </a:prstGeom>
          <a:noFill/>
        </p:spPr>
        <p:txBody>
          <a:bodyPr wrap="square" lIns="36576" tIns="18288" rIns="36576" bIns="18288">
            <a:spAutoFit/>
          </a:bodyPr>
          <a:lstStyle/>
          <a:p>
            <a:pPr algn="ctr">
              <a:spcAft>
                <a:spcPts val="200"/>
              </a:spcAft>
            </a:pPr>
            <a:r>
              <a:rPr sz="5800" b="1" i="0">
                <a:solidFill>
                  <a:srgbClr val="FFFFFF"/>
                </a:solidFill>
                <a:latin typeface="Calibri"/>
              </a:rPr>
              <a:t>DIGITAL BANKING</a:t>
            </a:r>
          </a:p>
          <a:p>
            <a:pPr algn="ctr">
              <a:spcAft>
                <a:spcPts val="400"/>
              </a:spcAft>
            </a:pPr>
            <a:r>
              <a:rPr sz="5800" b="1" i="0">
                <a:solidFill>
                  <a:srgbClr val="FFFFFF"/>
                </a:solidFill>
                <a:latin typeface="Calibri"/>
              </a:rPr>
              <a:t>IN TODAY'S WORLD</a:t>
            </a:r>
          </a:p>
          <a:p>
            <a:pPr algn="ctr">
              <a:spcAft>
                <a:spcPts val="400"/>
              </a:spcAft>
            </a:pPr>
            <a:r>
              <a:rPr sz="2800" b="1" i="0">
                <a:solidFill>
                  <a:srgbClr val="00C8FF"/>
                </a:solidFill>
                <a:latin typeface="Calibri"/>
              </a:rPr>
              <a:t>A Case Study of YONO SBI</a:t>
            </a:r>
          </a:p>
        </p:txBody>
      </p:sp>
      <p:sp>
        <p:nvSpPr>
          <p:cNvPr id="9" name="Rectangle 8"/>
          <p:cNvSpPr/>
          <p:nvPr/>
        </p:nvSpPr>
        <p:spPr>
          <a:xfrm>
            <a:off x="5166360" y="4206240"/>
            <a:ext cx="1828800" cy="45720"/>
          </a:xfrm>
          <a:prstGeom prst="rect">
            <a:avLst/>
          </a:prstGeom>
          <a:gradFill flip="none" rotWithShape="1">
            <a:gsLst>
              <a:gs pos="0">
                <a:srgbClr val="00C8FF"/>
              </a:gs>
              <a:gs pos="100000">
                <a:srgbClr val="22A06B"/>
              </a:gs>
            </a:gsLst>
            <a:lin ang="0" scaled="1"/>
          </a:gradFill>
          <a:ln>
            <a:noFill/>
          </a:ln>
          <a:effectLst>
            <a:glow rad="127000">
              <a:srgbClr val="00C8FF">
                <a:alpha val="7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2377440" y="4434840"/>
            <a:ext cx="7436815" cy="1691640"/>
          </a:xfrm>
          <a:prstGeom prst="roundRect">
            <a:avLst>
              <a:gd name="adj" fmla="val 7000"/>
            </a:avLst>
          </a:prstGeom>
          <a:solidFill>
            <a:srgbClr val="0A1F44">
              <a:alpha val="60000"/>
            </a:srgbClr>
          </a:solidFill>
          <a:ln>
            <a:noFill/>
          </a:ln>
          <a:effectLst>
            <a:outerShdw blurRad="254000" dist="101600" dir="2700000" algn="tl" rotWithShape="0">
              <a:srgbClr val="000000">
                <a:alpha val="4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560320" y="4526280"/>
            <a:ext cx="7071055" cy="1554480"/>
          </a:xfrm>
          <a:prstGeom prst="rect">
            <a:avLst/>
          </a:prstGeom>
          <a:noFill/>
        </p:spPr>
        <p:txBody>
          <a:bodyPr wrap="square" lIns="36576" tIns="18288" rIns="36576" bIns="18288">
            <a:spAutoFit/>
          </a:bodyPr>
          <a:lstStyle/>
          <a:p>
            <a:pPr algn="ctr">
              <a:spcAft>
                <a:spcPts val="200"/>
              </a:spcAft>
            </a:pPr>
            <a:r>
              <a:rPr sz="1000" b="0" i="0">
                <a:solidFill>
                  <a:srgbClr val="00C8FF"/>
                </a:solidFill>
                <a:latin typeface="Calibri"/>
              </a:rPr>
              <a:t>Submitted by</a:t>
            </a:r>
          </a:p>
          <a:p>
            <a:pPr algn="ctr">
              <a:spcAft>
                <a:spcPts val="200"/>
              </a:spcAft>
            </a:pPr>
            <a:r>
              <a:rPr sz="2200" b="1" i="0">
                <a:solidFill>
                  <a:srgbClr val="FFFFFF"/>
                </a:solidFill>
                <a:latin typeface="Calibri"/>
              </a:rPr>
              <a:t>Shalini Bharati</a:t>
            </a:r>
          </a:p>
          <a:p>
            <a:pPr algn="ctr">
              <a:spcAft>
                <a:spcPts val="1000"/>
              </a:spcAft>
            </a:pPr>
            <a:r>
              <a:rPr sz="1100" b="0" i="0">
                <a:solidFill>
                  <a:srgbClr val="E7EEFB"/>
                </a:solidFill>
                <a:latin typeface="Calibri"/>
              </a:rPr>
              <a:t>Enrollment No. O24MBA111548  -  Finance &amp; HR Specialization</a:t>
            </a:r>
          </a:p>
          <a:p>
            <a:pPr algn="ctr">
              <a:spcAft>
                <a:spcPts val="400"/>
              </a:spcAft>
            </a:pPr>
            <a:r>
              <a:rPr sz="1200" b="1" i="0">
                <a:solidFill>
                  <a:srgbClr val="FFFFFF"/>
                </a:solidFill>
                <a:latin typeface="Calibri"/>
              </a:rPr>
              <a:t>Under the Guidance of  Neha Bajaj, Senior Mentor</a:t>
            </a:r>
          </a:p>
          <a:p>
            <a:pPr algn="ctr">
              <a:spcAft>
                <a:spcPts val="400"/>
              </a:spcAft>
            </a:pPr>
            <a:r>
              <a:rPr sz="1000" b="0" i="1">
                <a:solidFill>
                  <a:srgbClr val="E7EEFB"/>
                </a:solidFill>
                <a:latin typeface="Calibri"/>
              </a:rPr>
              <a:t>Chandigarh University  -  CU Online  -  AY 2024-2026</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dirty="0">
                <a:solidFill>
                  <a:srgbClr val="FFFFFF"/>
                </a:solidFill>
                <a:latin typeface="Calibri"/>
              </a:rPr>
              <a:t>Roadmap of the Presentation</a:t>
            </a:r>
          </a:p>
        </p:txBody>
      </p:sp>
      <p:sp>
        <p:nvSpPr>
          <p:cNvPr id="8" name="Oval 7"/>
          <p:cNvSpPr/>
          <p:nvPr/>
        </p:nvSpPr>
        <p:spPr>
          <a:xfrm>
            <a:off x="1280160" y="1417320"/>
            <a:ext cx="548640" cy="548640"/>
          </a:xfrm>
          <a:prstGeom prst="ellipse">
            <a:avLst/>
          </a:prstGeom>
          <a:gradFill flip="none" rotWithShape="1">
            <a:gsLst>
              <a:gs pos="0">
                <a:srgbClr val="0A1F44"/>
              </a:gs>
              <a:gs pos="100000">
                <a:srgbClr val="00C8FF"/>
              </a:gs>
            </a:gsLst>
            <a:lin ang="8100000" scaled="1"/>
          </a:gradFill>
          <a:ln>
            <a:noFill/>
          </a:ln>
          <a:effectLst>
            <a:outerShdw blurRad="127000" dist="25400" dir="2700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400" b="1" i="0">
                <a:solidFill>
                  <a:srgbClr val="FFFFFF"/>
                </a:solidFill>
                <a:latin typeface="Calibri"/>
              </a:rPr>
              <a:t>01</a:t>
            </a:r>
          </a:p>
        </p:txBody>
      </p:sp>
      <p:sp>
        <p:nvSpPr>
          <p:cNvPr id="9" name="Rectangle 8"/>
          <p:cNvSpPr/>
          <p:nvPr/>
        </p:nvSpPr>
        <p:spPr>
          <a:xfrm>
            <a:off x="1965960" y="1673352"/>
            <a:ext cx="365760" cy="36576"/>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423160" y="1508760"/>
            <a:ext cx="9144000" cy="457200"/>
          </a:xfrm>
          <a:prstGeom prst="rect">
            <a:avLst/>
          </a:prstGeom>
          <a:noFill/>
        </p:spPr>
        <p:txBody>
          <a:bodyPr wrap="square" lIns="36576" tIns="18288" rIns="36576" bIns="18288">
            <a:spAutoFit/>
          </a:bodyPr>
          <a:lstStyle/>
          <a:p>
            <a:pPr>
              <a:spcAft>
                <a:spcPts val="400"/>
              </a:spcAft>
            </a:pPr>
            <a:r>
              <a:rPr sz="1700" b="1" i="0">
                <a:solidFill>
                  <a:srgbClr val="0A1F44"/>
                </a:solidFill>
                <a:latin typeface="Calibri"/>
              </a:rPr>
              <a:t>Industry Context, SBI &amp; YONO at a Glance</a:t>
            </a:r>
          </a:p>
        </p:txBody>
      </p:sp>
      <p:sp>
        <p:nvSpPr>
          <p:cNvPr id="11" name="Oval 10"/>
          <p:cNvSpPr/>
          <p:nvPr/>
        </p:nvSpPr>
        <p:spPr>
          <a:xfrm>
            <a:off x="1280160" y="2057400"/>
            <a:ext cx="548640" cy="548640"/>
          </a:xfrm>
          <a:prstGeom prst="ellipse">
            <a:avLst/>
          </a:prstGeom>
          <a:gradFill flip="none" rotWithShape="1">
            <a:gsLst>
              <a:gs pos="0">
                <a:srgbClr val="0A1F44"/>
              </a:gs>
              <a:gs pos="100000">
                <a:srgbClr val="2E5BFF"/>
              </a:gs>
            </a:gsLst>
            <a:lin ang="8100000" scaled="1"/>
          </a:gradFill>
          <a:ln>
            <a:noFill/>
          </a:ln>
          <a:effectLst>
            <a:outerShdw blurRad="127000" dist="25400" dir="2700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400" b="1" i="0">
                <a:solidFill>
                  <a:srgbClr val="FFFFFF"/>
                </a:solidFill>
                <a:latin typeface="Calibri"/>
              </a:rPr>
              <a:t>02</a:t>
            </a:r>
          </a:p>
        </p:txBody>
      </p:sp>
      <p:sp>
        <p:nvSpPr>
          <p:cNvPr id="12" name="Rectangle 11"/>
          <p:cNvSpPr/>
          <p:nvPr/>
        </p:nvSpPr>
        <p:spPr>
          <a:xfrm>
            <a:off x="1965960" y="2313432"/>
            <a:ext cx="365760" cy="36576"/>
          </a:xfrm>
          <a:prstGeom prst="rect">
            <a:avLst/>
          </a:prstGeom>
          <a:solidFill>
            <a:srgbClr val="2E5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423160" y="2148840"/>
            <a:ext cx="9144000" cy="457200"/>
          </a:xfrm>
          <a:prstGeom prst="rect">
            <a:avLst/>
          </a:prstGeom>
          <a:noFill/>
        </p:spPr>
        <p:txBody>
          <a:bodyPr wrap="square" lIns="36576" tIns="18288" rIns="36576" bIns="18288">
            <a:spAutoFit/>
          </a:bodyPr>
          <a:lstStyle/>
          <a:p>
            <a:pPr>
              <a:spcAft>
                <a:spcPts val="400"/>
              </a:spcAft>
            </a:pPr>
            <a:r>
              <a:rPr sz="1700" b="1" i="0">
                <a:solidFill>
                  <a:srgbClr val="0A1F44"/>
                </a:solidFill>
                <a:latin typeface="Calibri"/>
              </a:rPr>
              <a:t>Problem, Objectives &amp; Research Questions</a:t>
            </a:r>
          </a:p>
        </p:txBody>
      </p:sp>
      <p:sp>
        <p:nvSpPr>
          <p:cNvPr id="14" name="Oval 13"/>
          <p:cNvSpPr/>
          <p:nvPr/>
        </p:nvSpPr>
        <p:spPr>
          <a:xfrm>
            <a:off x="1280160" y="2697480"/>
            <a:ext cx="548640" cy="548640"/>
          </a:xfrm>
          <a:prstGeom prst="ellipse">
            <a:avLst/>
          </a:prstGeom>
          <a:gradFill flip="none" rotWithShape="1">
            <a:gsLst>
              <a:gs pos="0">
                <a:srgbClr val="0A1F44"/>
              </a:gs>
              <a:gs pos="100000">
                <a:srgbClr val="1E4FB5"/>
              </a:gs>
            </a:gsLst>
            <a:lin ang="8100000" scaled="1"/>
          </a:gradFill>
          <a:ln>
            <a:noFill/>
          </a:ln>
          <a:effectLst>
            <a:outerShdw blurRad="127000" dist="25400" dir="2700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400" b="1" i="0">
                <a:solidFill>
                  <a:srgbClr val="FFFFFF"/>
                </a:solidFill>
                <a:latin typeface="Calibri"/>
              </a:rPr>
              <a:t>03</a:t>
            </a:r>
          </a:p>
        </p:txBody>
      </p:sp>
      <p:sp>
        <p:nvSpPr>
          <p:cNvPr id="15" name="Rectangle 14"/>
          <p:cNvSpPr/>
          <p:nvPr/>
        </p:nvSpPr>
        <p:spPr>
          <a:xfrm>
            <a:off x="1965960" y="2953512"/>
            <a:ext cx="365760" cy="36576"/>
          </a:xfrm>
          <a:prstGeom prst="rect">
            <a:avLst/>
          </a:prstGeom>
          <a:solidFill>
            <a:srgbClr val="1E4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423160" y="2788920"/>
            <a:ext cx="9144000" cy="457200"/>
          </a:xfrm>
          <a:prstGeom prst="rect">
            <a:avLst/>
          </a:prstGeom>
          <a:noFill/>
        </p:spPr>
        <p:txBody>
          <a:bodyPr wrap="square" lIns="36576" tIns="18288" rIns="36576" bIns="18288">
            <a:spAutoFit/>
          </a:bodyPr>
          <a:lstStyle/>
          <a:p>
            <a:pPr>
              <a:spcAft>
                <a:spcPts val="400"/>
              </a:spcAft>
            </a:pPr>
            <a:r>
              <a:rPr sz="1700" b="1" i="0">
                <a:solidFill>
                  <a:srgbClr val="0A1F44"/>
                </a:solidFill>
                <a:latin typeface="Calibri"/>
              </a:rPr>
              <a:t>Literature Review &amp; Theoretical Framework</a:t>
            </a:r>
          </a:p>
        </p:txBody>
      </p:sp>
      <p:sp>
        <p:nvSpPr>
          <p:cNvPr id="17" name="Oval 16"/>
          <p:cNvSpPr/>
          <p:nvPr/>
        </p:nvSpPr>
        <p:spPr>
          <a:xfrm>
            <a:off x="1280160" y="3337560"/>
            <a:ext cx="548640" cy="548640"/>
          </a:xfrm>
          <a:prstGeom prst="ellipse">
            <a:avLst/>
          </a:prstGeom>
          <a:gradFill flip="none" rotWithShape="1">
            <a:gsLst>
              <a:gs pos="0">
                <a:srgbClr val="0A1F44"/>
              </a:gs>
              <a:gs pos="100000">
                <a:srgbClr val="12B79E"/>
              </a:gs>
            </a:gsLst>
            <a:lin ang="8100000" scaled="1"/>
          </a:gradFill>
          <a:ln>
            <a:noFill/>
          </a:ln>
          <a:effectLst>
            <a:outerShdw blurRad="127000" dist="25400" dir="2700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400" b="1" i="0">
                <a:solidFill>
                  <a:srgbClr val="FFFFFF"/>
                </a:solidFill>
                <a:latin typeface="Calibri"/>
              </a:rPr>
              <a:t>04</a:t>
            </a:r>
          </a:p>
        </p:txBody>
      </p:sp>
      <p:sp>
        <p:nvSpPr>
          <p:cNvPr id="18" name="Rectangle 17"/>
          <p:cNvSpPr/>
          <p:nvPr/>
        </p:nvSpPr>
        <p:spPr>
          <a:xfrm>
            <a:off x="1965960" y="3593592"/>
            <a:ext cx="365760" cy="36576"/>
          </a:xfrm>
          <a:prstGeom prst="rect">
            <a:avLst/>
          </a:prstGeom>
          <a:solidFill>
            <a:srgbClr val="12B7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423160" y="3429000"/>
            <a:ext cx="9144000" cy="457200"/>
          </a:xfrm>
          <a:prstGeom prst="rect">
            <a:avLst/>
          </a:prstGeom>
          <a:noFill/>
        </p:spPr>
        <p:txBody>
          <a:bodyPr wrap="square" lIns="36576" tIns="18288" rIns="36576" bIns="18288">
            <a:spAutoFit/>
          </a:bodyPr>
          <a:lstStyle/>
          <a:p>
            <a:pPr>
              <a:spcAft>
                <a:spcPts val="400"/>
              </a:spcAft>
            </a:pPr>
            <a:r>
              <a:rPr sz="1700" b="1" i="0">
                <a:solidFill>
                  <a:srgbClr val="0A1F44"/>
                </a:solidFill>
                <a:latin typeface="Calibri"/>
              </a:rPr>
              <a:t>Research Methodology</a:t>
            </a:r>
          </a:p>
        </p:txBody>
      </p:sp>
      <p:sp>
        <p:nvSpPr>
          <p:cNvPr id="20" name="Oval 19"/>
          <p:cNvSpPr/>
          <p:nvPr/>
        </p:nvSpPr>
        <p:spPr>
          <a:xfrm>
            <a:off x="1280160" y="3977640"/>
            <a:ext cx="548640" cy="548640"/>
          </a:xfrm>
          <a:prstGeom prst="ellipse">
            <a:avLst/>
          </a:prstGeom>
          <a:gradFill flip="none" rotWithShape="1">
            <a:gsLst>
              <a:gs pos="0">
                <a:srgbClr val="0A1F44"/>
              </a:gs>
              <a:gs pos="100000">
                <a:srgbClr val="22A06B"/>
              </a:gs>
            </a:gsLst>
            <a:lin ang="8100000" scaled="1"/>
          </a:gradFill>
          <a:ln>
            <a:noFill/>
          </a:ln>
          <a:effectLst>
            <a:outerShdw blurRad="127000" dist="25400" dir="2700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400" b="1" i="0">
                <a:solidFill>
                  <a:srgbClr val="FFFFFF"/>
                </a:solidFill>
                <a:latin typeface="Calibri"/>
              </a:rPr>
              <a:t>05</a:t>
            </a:r>
          </a:p>
        </p:txBody>
      </p:sp>
      <p:sp>
        <p:nvSpPr>
          <p:cNvPr id="21" name="Rectangle 20"/>
          <p:cNvSpPr/>
          <p:nvPr/>
        </p:nvSpPr>
        <p:spPr>
          <a:xfrm>
            <a:off x="1965960" y="4233672"/>
            <a:ext cx="365760" cy="36576"/>
          </a:xfrm>
          <a:prstGeom prst="rect">
            <a:avLst/>
          </a:prstGeom>
          <a:solidFill>
            <a:srgbClr val="22A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423160" y="4069080"/>
            <a:ext cx="9144000" cy="457200"/>
          </a:xfrm>
          <a:prstGeom prst="rect">
            <a:avLst/>
          </a:prstGeom>
          <a:noFill/>
        </p:spPr>
        <p:txBody>
          <a:bodyPr wrap="square" lIns="36576" tIns="18288" rIns="36576" bIns="18288">
            <a:spAutoFit/>
          </a:bodyPr>
          <a:lstStyle/>
          <a:p>
            <a:pPr>
              <a:spcAft>
                <a:spcPts val="400"/>
              </a:spcAft>
            </a:pPr>
            <a:r>
              <a:rPr sz="1700" b="1" i="0">
                <a:solidFill>
                  <a:srgbClr val="0A1F44"/>
                </a:solidFill>
                <a:latin typeface="Calibri"/>
              </a:rPr>
              <a:t>Primary Data Findings &amp; Hypothesis Testing</a:t>
            </a:r>
          </a:p>
        </p:txBody>
      </p:sp>
      <p:sp>
        <p:nvSpPr>
          <p:cNvPr id="23" name="Oval 22"/>
          <p:cNvSpPr/>
          <p:nvPr/>
        </p:nvSpPr>
        <p:spPr>
          <a:xfrm>
            <a:off x="1280160" y="4617720"/>
            <a:ext cx="548640" cy="548640"/>
          </a:xfrm>
          <a:prstGeom prst="ellipse">
            <a:avLst/>
          </a:prstGeom>
          <a:gradFill flip="none" rotWithShape="1">
            <a:gsLst>
              <a:gs pos="0">
                <a:srgbClr val="0A1F44"/>
              </a:gs>
              <a:gs pos="100000">
                <a:srgbClr val="9EE54D"/>
              </a:gs>
            </a:gsLst>
            <a:lin ang="8100000" scaled="1"/>
          </a:gradFill>
          <a:ln>
            <a:noFill/>
          </a:ln>
          <a:effectLst>
            <a:outerShdw blurRad="127000" dist="25400" dir="2700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400" b="1" i="0">
                <a:solidFill>
                  <a:srgbClr val="FFFFFF"/>
                </a:solidFill>
                <a:latin typeface="Calibri"/>
              </a:rPr>
              <a:t>06</a:t>
            </a:r>
          </a:p>
        </p:txBody>
      </p:sp>
      <p:sp>
        <p:nvSpPr>
          <p:cNvPr id="24" name="Rectangle 23"/>
          <p:cNvSpPr/>
          <p:nvPr/>
        </p:nvSpPr>
        <p:spPr>
          <a:xfrm>
            <a:off x="1965960" y="4873752"/>
            <a:ext cx="365760" cy="36576"/>
          </a:xfrm>
          <a:prstGeom prst="rect">
            <a:avLst/>
          </a:prstGeom>
          <a:solidFill>
            <a:srgbClr val="9EE5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423160" y="4709160"/>
            <a:ext cx="9144000" cy="457200"/>
          </a:xfrm>
          <a:prstGeom prst="rect">
            <a:avLst/>
          </a:prstGeom>
          <a:noFill/>
        </p:spPr>
        <p:txBody>
          <a:bodyPr wrap="square" lIns="36576" tIns="18288" rIns="36576" bIns="18288">
            <a:spAutoFit/>
          </a:bodyPr>
          <a:lstStyle/>
          <a:p>
            <a:pPr>
              <a:spcAft>
                <a:spcPts val="400"/>
              </a:spcAft>
            </a:pPr>
            <a:r>
              <a:rPr sz="1700" b="1" i="0">
                <a:solidFill>
                  <a:srgbClr val="0A1F44"/>
                </a:solidFill>
                <a:latin typeface="Calibri"/>
              </a:rPr>
              <a:t>YONO 2.0 Case Insights &amp; Consolidated Findings</a:t>
            </a:r>
          </a:p>
        </p:txBody>
      </p:sp>
      <p:sp>
        <p:nvSpPr>
          <p:cNvPr id="26" name="Oval 25"/>
          <p:cNvSpPr/>
          <p:nvPr/>
        </p:nvSpPr>
        <p:spPr>
          <a:xfrm>
            <a:off x="1280160" y="5257800"/>
            <a:ext cx="548640" cy="548640"/>
          </a:xfrm>
          <a:prstGeom prst="ellipse">
            <a:avLst/>
          </a:prstGeom>
          <a:gradFill flip="none" rotWithShape="1">
            <a:gsLst>
              <a:gs pos="0">
                <a:srgbClr val="0A1F44"/>
              </a:gs>
              <a:gs pos="100000">
                <a:srgbClr val="FFB83B"/>
              </a:gs>
            </a:gsLst>
            <a:lin ang="8100000" scaled="1"/>
          </a:gradFill>
          <a:ln>
            <a:noFill/>
          </a:ln>
          <a:effectLst>
            <a:outerShdw blurRad="127000" dist="25400" dir="2700000" algn="tl"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400" b="1" i="0">
                <a:solidFill>
                  <a:srgbClr val="FFFFFF"/>
                </a:solidFill>
                <a:latin typeface="Calibri"/>
              </a:rPr>
              <a:t>07</a:t>
            </a:r>
          </a:p>
        </p:txBody>
      </p:sp>
      <p:sp>
        <p:nvSpPr>
          <p:cNvPr id="27" name="Rectangle 26"/>
          <p:cNvSpPr/>
          <p:nvPr/>
        </p:nvSpPr>
        <p:spPr>
          <a:xfrm>
            <a:off x="1965960" y="5513832"/>
            <a:ext cx="365760" cy="36576"/>
          </a:xfrm>
          <a:prstGeom prst="rect">
            <a:avLst/>
          </a:prstGeom>
          <a:solidFill>
            <a:srgbClr val="FFB8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423160" y="5349240"/>
            <a:ext cx="9144000" cy="457200"/>
          </a:xfrm>
          <a:prstGeom prst="rect">
            <a:avLst/>
          </a:prstGeom>
          <a:noFill/>
        </p:spPr>
        <p:txBody>
          <a:bodyPr wrap="square" lIns="36576" tIns="18288" rIns="36576" bIns="18288">
            <a:spAutoFit/>
          </a:bodyPr>
          <a:lstStyle/>
          <a:p>
            <a:pPr>
              <a:spcAft>
                <a:spcPts val="400"/>
              </a:spcAft>
            </a:pPr>
            <a:r>
              <a:rPr sz="1700" b="1" i="0">
                <a:solidFill>
                  <a:srgbClr val="0A1F44"/>
                </a:solidFill>
                <a:latin typeface="Calibri"/>
              </a:rPr>
              <a:t>Recommendations, Limitations &amp; Conclusion</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Why Digital Banking Matters - and Where YONO Sits</a:t>
            </a:r>
          </a:p>
        </p:txBody>
      </p:sp>
      <p:pic>
        <p:nvPicPr>
          <p:cNvPr id="7" name="Picture 6" descr="hero_phone_banking.jpg"/>
          <p:cNvPicPr>
            <a:picLocks noChangeAspect="1"/>
          </p:cNvPicPr>
          <p:nvPr/>
        </p:nvPicPr>
        <p:blipFill>
          <a:blip r:embed="rId3"/>
          <a:stretch>
            <a:fillRect/>
          </a:stretch>
        </p:blipFill>
        <p:spPr>
          <a:xfrm>
            <a:off x="411480" y="914400"/>
            <a:ext cx="5120640" cy="5440680"/>
          </a:xfrm>
          <a:effectLst>
            <a:outerShdw blurRad="228600" dist="76200" dir="2700000" algn="tl" rotWithShape="0">
              <a:srgbClr val="000000">
                <a:alpha val="40000"/>
              </a:srgbClr>
            </a:outerShdw>
          </a:effectLst>
        </p:spPr>
      </p:pic>
      <p:sp>
        <p:nvSpPr>
          <p:cNvPr id="8" name="Rounded Rectangle 7"/>
          <p:cNvSpPr/>
          <p:nvPr/>
        </p:nvSpPr>
        <p:spPr>
          <a:xfrm>
            <a:off x="411480" y="914400"/>
            <a:ext cx="5120640" cy="5440680"/>
          </a:xfrm>
          <a:prstGeom prst="roundRect">
            <a:avLst>
              <a:gd name="adj" fmla="val 4000"/>
            </a:avLst>
          </a:prstGeom>
          <a:gradFill flip="none" rotWithShape="1">
            <a:gsLst>
              <a:gs pos="0">
                <a:srgbClr val="0A1F44"/>
              </a:gs>
              <a:gs pos="100000">
                <a:srgbClr val="2E5BFF"/>
              </a:gs>
            </a:gsLst>
            <a:lin ang="81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188720"/>
            <a:ext cx="4572000" cy="1097280"/>
          </a:xfrm>
          <a:prstGeom prst="rect">
            <a:avLst/>
          </a:prstGeom>
          <a:noFill/>
        </p:spPr>
        <p:txBody>
          <a:bodyPr wrap="square" lIns="36576" tIns="18288" rIns="36576" bIns="18288">
            <a:spAutoFit/>
          </a:bodyPr>
          <a:lstStyle/>
          <a:p>
            <a:pPr>
              <a:spcAft>
                <a:spcPts val="0"/>
              </a:spcAft>
            </a:pPr>
            <a:r>
              <a:rPr sz="3000" b="1" i="0">
                <a:solidFill>
                  <a:srgbClr val="FFFFFF"/>
                </a:solidFill>
                <a:latin typeface="Calibri"/>
              </a:rPr>
              <a:t>INDIA'S</a:t>
            </a:r>
          </a:p>
          <a:p>
            <a:pPr>
              <a:spcAft>
                <a:spcPts val="0"/>
              </a:spcAft>
            </a:pPr>
            <a:r>
              <a:rPr sz="3400" b="1" i="0">
                <a:solidFill>
                  <a:srgbClr val="00C8FF"/>
                </a:solidFill>
                <a:latin typeface="Calibri"/>
              </a:rPr>
              <a:t>DIGITAL SURGE</a:t>
            </a:r>
          </a:p>
        </p:txBody>
      </p:sp>
      <p:sp>
        <p:nvSpPr>
          <p:cNvPr id="10" name="Rounded Rectangle 9"/>
          <p:cNvSpPr/>
          <p:nvPr/>
        </p:nvSpPr>
        <p:spPr>
          <a:xfrm>
            <a:off x="685800" y="2743200"/>
            <a:ext cx="4572000" cy="960120"/>
          </a:xfrm>
          <a:prstGeom prst="roundRect">
            <a:avLst>
              <a:gd name="adj" fmla="val 5000"/>
            </a:avLst>
          </a:prstGeom>
          <a:gradFill flip="none" rotWithShape="1">
            <a:gsLst>
              <a:gs pos="0">
                <a:srgbClr val="0A1F44"/>
              </a:gs>
              <a:gs pos="100000">
                <a:srgbClr val="1E4FB5"/>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2880360"/>
            <a:ext cx="4572000" cy="777240"/>
          </a:xfrm>
          <a:prstGeom prst="rect">
            <a:avLst/>
          </a:prstGeom>
          <a:noFill/>
        </p:spPr>
        <p:txBody>
          <a:bodyPr wrap="square" lIns="36576" tIns="18288" rIns="36576" bIns="18288">
            <a:spAutoFit/>
          </a:bodyPr>
          <a:lstStyle/>
          <a:p>
            <a:pPr algn="ctr">
              <a:spcAft>
                <a:spcPts val="400"/>
              </a:spcAft>
            </a:pPr>
            <a:r>
              <a:rPr sz="3600" b="1" i="0">
                <a:solidFill>
                  <a:srgbClr val="9EE54D"/>
                </a:solidFill>
                <a:latin typeface="Calibri"/>
              </a:rPr>
              <a:t>129%</a:t>
            </a:r>
          </a:p>
        </p:txBody>
      </p:sp>
      <p:sp>
        <p:nvSpPr>
          <p:cNvPr id="12" name="TextBox 11"/>
          <p:cNvSpPr txBox="1"/>
          <p:nvPr/>
        </p:nvSpPr>
        <p:spPr>
          <a:xfrm>
            <a:off x="685800" y="3611880"/>
            <a:ext cx="45720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UPI CAGR (FY17-18 to FY23-24)</a:t>
            </a:r>
          </a:p>
        </p:txBody>
      </p:sp>
      <p:sp>
        <p:nvSpPr>
          <p:cNvPr id="13" name="Rounded Rectangle 12"/>
          <p:cNvSpPr/>
          <p:nvPr/>
        </p:nvSpPr>
        <p:spPr>
          <a:xfrm>
            <a:off x="685800" y="3867912"/>
            <a:ext cx="4572000" cy="960120"/>
          </a:xfrm>
          <a:prstGeom prst="roundRect">
            <a:avLst>
              <a:gd name="adj" fmla="val 5000"/>
            </a:avLst>
          </a:prstGeom>
          <a:gradFill flip="none" rotWithShape="1">
            <a:gsLst>
              <a:gs pos="0">
                <a:srgbClr val="0A1F44"/>
              </a:gs>
              <a:gs pos="100000">
                <a:srgbClr val="2E5BFF"/>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85800" y="4005072"/>
            <a:ext cx="4572000" cy="777240"/>
          </a:xfrm>
          <a:prstGeom prst="rect">
            <a:avLst/>
          </a:prstGeom>
          <a:noFill/>
        </p:spPr>
        <p:txBody>
          <a:bodyPr wrap="square" lIns="36576" tIns="18288" rIns="36576" bIns="18288">
            <a:spAutoFit/>
          </a:bodyPr>
          <a:lstStyle/>
          <a:p>
            <a:pPr algn="ctr">
              <a:spcAft>
                <a:spcPts val="400"/>
              </a:spcAft>
            </a:pPr>
            <a:r>
              <a:rPr sz="3600" b="1" i="0">
                <a:solidFill>
                  <a:srgbClr val="00C8FF"/>
                </a:solidFill>
                <a:latin typeface="Calibri"/>
              </a:rPr>
              <a:t>48.5%</a:t>
            </a:r>
          </a:p>
        </p:txBody>
      </p:sp>
      <p:sp>
        <p:nvSpPr>
          <p:cNvPr id="15" name="TextBox 14"/>
          <p:cNvSpPr txBox="1"/>
          <p:nvPr/>
        </p:nvSpPr>
        <p:spPr>
          <a:xfrm>
            <a:off x="685800" y="4736592"/>
            <a:ext cx="45720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India's Share of Global Real-Time Payments</a:t>
            </a:r>
          </a:p>
        </p:txBody>
      </p:sp>
      <p:sp>
        <p:nvSpPr>
          <p:cNvPr id="16" name="Rounded Rectangle 15"/>
          <p:cNvSpPr/>
          <p:nvPr/>
        </p:nvSpPr>
        <p:spPr>
          <a:xfrm>
            <a:off x="685800" y="4992624"/>
            <a:ext cx="4572000" cy="960120"/>
          </a:xfrm>
          <a:prstGeom prst="roundRect">
            <a:avLst>
              <a:gd name="adj" fmla="val 5000"/>
            </a:avLst>
          </a:prstGeom>
          <a:gradFill flip="none" rotWithShape="1">
            <a:gsLst>
              <a:gs pos="0">
                <a:srgbClr val="0A1F44"/>
              </a:gs>
              <a:gs pos="100000">
                <a:srgbClr val="1E4FB5"/>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85800" y="5129784"/>
            <a:ext cx="4572000" cy="777240"/>
          </a:xfrm>
          <a:prstGeom prst="rect">
            <a:avLst/>
          </a:prstGeom>
          <a:noFill/>
        </p:spPr>
        <p:txBody>
          <a:bodyPr wrap="square" lIns="36576" tIns="18288" rIns="36576" bIns="18288">
            <a:spAutoFit/>
          </a:bodyPr>
          <a:lstStyle/>
          <a:p>
            <a:pPr algn="ctr">
              <a:spcAft>
                <a:spcPts val="400"/>
              </a:spcAft>
            </a:pPr>
            <a:r>
              <a:rPr sz="3600" b="1" i="0">
                <a:solidFill>
                  <a:srgbClr val="FFB83B"/>
                </a:solidFill>
                <a:latin typeface="Calibri"/>
              </a:rPr>
              <a:t>13.2 Lakh</a:t>
            </a:r>
          </a:p>
        </p:txBody>
      </p:sp>
      <p:sp>
        <p:nvSpPr>
          <p:cNvPr id="18" name="TextBox 17"/>
          <p:cNvSpPr txBox="1"/>
          <p:nvPr/>
        </p:nvSpPr>
        <p:spPr>
          <a:xfrm>
            <a:off x="685800" y="5861304"/>
            <a:ext cx="45720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CERT-In Cyber Incidents (Jan-Oct 2023)</a:t>
            </a:r>
          </a:p>
        </p:txBody>
      </p:sp>
      <p:sp>
        <p:nvSpPr>
          <p:cNvPr id="19" name="Rounded Rectangle 18"/>
          <p:cNvSpPr/>
          <p:nvPr/>
        </p:nvSpPr>
        <p:spPr>
          <a:xfrm>
            <a:off x="5760720" y="914400"/>
            <a:ext cx="6080760" cy="544068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080760" y="1143000"/>
            <a:ext cx="5440680" cy="411480"/>
          </a:xfrm>
          <a:prstGeom prst="rect">
            <a:avLst/>
          </a:prstGeom>
          <a:noFill/>
        </p:spPr>
        <p:txBody>
          <a:bodyPr wrap="square" lIns="36576" tIns="18288" rIns="36576" bIns="18288">
            <a:spAutoFit/>
          </a:bodyPr>
          <a:lstStyle/>
          <a:p>
            <a:pPr>
              <a:spcAft>
                <a:spcPts val="400"/>
              </a:spcAft>
            </a:pPr>
            <a:r>
              <a:rPr sz="1800" b="1" i="0">
                <a:solidFill>
                  <a:srgbClr val="0A1F44"/>
                </a:solidFill>
                <a:latin typeface="Calibri"/>
              </a:rPr>
              <a:t>SBI &amp; YONO at a Glance</a:t>
            </a:r>
          </a:p>
        </p:txBody>
      </p:sp>
      <p:sp>
        <p:nvSpPr>
          <p:cNvPr id="21" name="Rounded Rectangle 20"/>
          <p:cNvSpPr/>
          <p:nvPr/>
        </p:nvSpPr>
        <p:spPr>
          <a:xfrm>
            <a:off x="6080760" y="1691640"/>
            <a:ext cx="5440680" cy="2286000"/>
          </a:xfrm>
          <a:prstGeom prst="roundRect">
            <a:avLst>
              <a:gd name="adj" fmla="val 5000"/>
            </a:avLst>
          </a:prstGeom>
          <a:gradFill flip="none" rotWithShape="1">
            <a:gsLst>
              <a:gs pos="0">
                <a:srgbClr val="0A1F44"/>
              </a:gs>
              <a:gs pos="100000">
                <a:srgbClr val="1E4FB5"/>
              </a:gs>
            </a:gsLst>
            <a:lin ang="54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1828800"/>
            <a:ext cx="5074920" cy="2011680"/>
          </a:xfrm>
          <a:prstGeom prst="rect">
            <a:avLst/>
          </a:prstGeom>
          <a:noFill/>
        </p:spPr>
        <p:txBody>
          <a:bodyPr wrap="square" lIns="36576" tIns="18288" rIns="36576" bIns="18288">
            <a:spAutoFit/>
          </a:bodyPr>
          <a:lstStyle/>
          <a:p>
            <a:pPr>
              <a:spcAft>
                <a:spcPts val="600"/>
              </a:spcAft>
            </a:pPr>
            <a:r>
              <a:rPr sz="1400" b="1" i="0">
                <a:solidFill>
                  <a:srgbClr val="00C8FF"/>
                </a:solidFill>
                <a:latin typeface="Calibri"/>
              </a:rPr>
              <a:t>STATE BANK OF INDIA</a:t>
            </a:r>
          </a:p>
          <a:p>
            <a:pPr>
              <a:spcAft>
                <a:spcPts val="800"/>
              </a:spcAft>
            </a:pPr>
            <a:r>
              <a:rPr sz="1200" b="0" i="0">
                <a:solidFill>
                  <a:srgbClr val="FFFFFF"/>
                </a:solidFill>
                <a:latin typeface="Calibri"/>
              </a:rPr>
              <a:t>•  22,000+ branches  -  63,580 ATMs  -  500M+ customers</a:t>
            </a:r>
          </a:p>
          <a:p>
            <a:pPr>
              <a:spcAft>
                <a:spcPts val="800"/>
              </a:spcAft>
            </a:pPr>
            <a:r>
              <a:rPr sz="1200" b="0" i="0">
                <a:solidFill>
                  <a:srgbClr val="FFFFFF"/>
                </a:solidFill>
                <a:latin typeface="Calibri"/>
              </a:rPr>
              <a:t>•  Ranked 43rd globally by assets; 163rd Fortune Global 500 (2025)</a:t>
            </a:r>
          </a:p>
          <a:p>
            <a:pPr>
              <a:spcAft>
                <a:spcPts val="800"/>
              </a:spcAft>
            </a:pPr>
            <a:r>
              <a:rPr sz="1200" b="0" i="0">
                <a:solidFill>
                  <a:srgbClr val="FFFFFF"/>
                </a:solidFill>
                <a:latin typeface="Calibri"/>
              </a:rPr>
              <a:t>•  2,32,296 employees  -  241 offshore offices in 36 countries</a:t>
            </a:r>
          </a:p>
        </p:txBody>
      </p:sp>
      <p:sp>
        <p:nvSpPr>
          <p:cNvPr id="23" name="Rounded Rectangle 22"/>
          <p:cNvSpPr/>
          <p:nvPr/>
        </p:nvSpPr>
        <p:spPr>
          <a:xfrm>
            <a:off x="6080760" y="4114800"/>
            <a:ext cx="5440680" cy="2240280"/>
          </a:xfrm>
          <a:prstGeom prst="roundRect">
            <a:avLst>
              <a:gd name="adj" fmla="val 5000"/>
            </a:avLst>
          </a:prstGeom>
          <a:gradFill flip="none" rotWithShape="1">
            <a:gsLst>
              <a:gs pos="0">
                <a:srgbClr val="22A06B"/>
              </a:gs>
              <a:gs pos="100000">
                <a:srgbClr val="12B79E"/>
              </a:gs>
            </a:gsLst>
            <a:lin ang="54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4251960"/>
            <a:ext cx="5074920" cy="1965960"/>
          </a:xfrm>
          <a:prstGeom prst="rect">
            <a:avLst/>
          </a:prstGeom>
          <a:noFill/>
        </p:spPr>
        <p:txBody>
          <a:bodyPr wrap="square" lIns="36576" tIns="18288" rIns="36576" bIns="18288">
            <a:spAutoFit/>
          </a:bodyPr>
          <a:lstStyle/>
          <a:p>
            <a:pPr>
              <a:spcAft>
                <a:spcPts val="600"/>
              </a:spcAft>
            </a:pPr>
            <a:r>
              <a:rPr sz="1400" b="1" i="0">
                <a:solidFill>
                  <a:srgbClr val="9EE54D"/>
                </a:solidFill>
                <a:latin typeface="Calibri"/>
              </a:rPr>
              <a:t>YONO  -  YOU ONLY NEED ONE</a:t>
            </a:r>
          </a:p>
          <a:p>
            <a:pPr>
              <a:spcAft>
                <a:spcPts val="600"/>
              </a:spcAft>
            </a:pPr>
            <a:r>
              <a:rPr sz="1200" b="0" i="0">
                <a:solidFill>
                  <a:srgbClr val="FFFFFF"/>
                </a:solidFill>
                <a:latin typeface="Calibri"/>
              </a:rPr>
              <a:t>•  Launched 24 Nov 2017 (McKinsey strategy + IBM technology)</a:t>
            </a:r>
          </a:p>
          <a:p>
            <a:pPr>
              <a:spcAft>
                <a:spcPts val="600"/>
              </a:spcAft>
            </a:pPr>
            <a:r>
              <a:rPr sz="1200" b="0" i="0">
                <a:solidFill>
                  <a:srgbClr val="FFFFFF"/>
                </a:solidFill>
                <a:latin typeface="Calibri"/>
              </a:rPr>
              <a:t>•  9.60 crore registered users (Dec 2025); target 20 crore in 2 years</a:t>
            </a:r>
          </a:p>
          <a:p>
            <a:pPr>
              <a:spcAft>
                <a:spcPts val="600"/>
              </a:spcAft>
            </a:pPr>
            <a:r>
              <a:rPr sz="1200" b="0" i="0">
                <a:solidFill>
                  <a:srgbClr val="FFFFFF"/>
                </a:solidFill>
                <a:latin typeface="Calibri"/>
              </a:rPr>
              <a:t>•  54M MAUs in 2021  -  world's leading neobank by MAUs</a:t>
            </a:r>
          </a:p>
          <a:p>
            <a:pPr>
              <a:spcAft>
                <a:spcPts val="600"/>
              </a:spcAft>
            </a:pPr>
            <a:r>
              <a:rPr sz="1200" b="0" i="0">
                <a:solidFill>
                  <a:srgbClr val="FFFFFF"/>
                </a:solidFill>
                <a:latin typeface="Calibri"/>
              </a:rPr>
              <a:t>•  Rs 1,500-2,000 cr / month digital lending (Oct 2021)</a:t>
            </a:r>
          </a:p>
        </p:txBody>
      </p:sp>
      <p:sp>
        <p:nvSpPr>
          <p:cNvPr id="25" name="Rectangle 24"/>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What This Study Sets Out to Answer</a:t>
            </a:r>
          </a:p>
        </p:txBody>
      </p:sp>
      <p:sp>
        <p:nvSpPr>
          <p:cNvPr id="7" name="Rounded Rectangle 6"/>
          <p:cNvSpPr/>
          <p:nvPr/>
        </p:nvSpPr>
        <p:spPr>
          <a:xfrm>
            <a:off x="411480" y="914400"/>
            <a:ext cx="11384280" cy="1005840"/>
          </a:xfrm>
          <a:prstGeom prst="roundRect">
            <a:avLst>
              <a:gd name="adj" fmla="val 5000"/>
            </a:avLst>
          </a:prstGeom>
          <a:gradFill flip="none" rotWithShape="1">
            <a:gsLst>
              <a:gs pos="0">
                <a:srgbClr val="0A1F44"/>
              </a:gs>
              <a:gs pos="100000">
                <a:srgbClr val="2E5BFF"/>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005840"/>
            <a:ext cx="10927080" cy="868680"/>
          </a:xfrm>
          <a:prstGeom prst="rect">
            <a:avLst/>
          </a:prstGeom>
          <a:noFill/>
        </p:spPr>
        <p:txBody>
          <a:bodyPr wrap="square" lIns="36576" tIns="18288" rIns="36576" bIns="18288">
            <a:spAutoFit/>
          </a:bodyPr>
          <a:lstStyle/>
          <a:p>
            <a:pPr>
              <a:spcAft>
                <a:spcPts val="400"/>
              </a:spcAft>
            </a:pPr>
            <a:r>
              <a:rPr sz="1100" b="1" i="0">
                <a:solidFill>
                  <a:srgbClr val="00C8FF"/>
                </a:solidFill>
                <a:latin typeface="Calibri"/>
              </a:rPr>
              <a:t>PROBLEM STATEMENT</a:t>
            </a:r>
          </a:p>
          <a:p>
            <a:pPr>
              <a:spcAft>
                <a:spcPts val="400"/>
              </a:spcAft>
            </a:pPr>
            <a:r>
              <a:rPr sz="1300" b="0" i="0">
                <a:solidFill>
                  <a:srgbClr val="FFFFFF"/>
                </a:solidFill>
                <a:latin typeface="Calibri"/>
              </a:rPr>
              <a:t>Despite YONO's scale, the link between its features, user satisfaction, and financial-management implications is under-researched - especially for a public sector super-app.</a:t>
            </a:r>
          </a:p>
        </p:txBody>
      </p:sp>
      <p:sp>
        <p:nvSpPr>
          <p:cNvPr id="9" name="Rounded Rectangle 8"/>
          <p:cNvSpPr/>
          <p:nvPr/>
        </p:nvSpPr>
        <p:spPr>
          <a:xfrm>
            <a:off x="411480" y="2057400"/>
            <a:ext cx="6949440" cy="429768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240280"/>
            <a:ext cx="6400800" cy="411480"/>
          </a:xfrm>
          <a:prstGeom prst="rect">
            <a:avLst/>
          </a:prstGeom>
          <a:noFill/>
        </p:spPr>
        <p:txBody>
          <a:bodyPr wrap="square" lIns="36576" tIns="18288" rIns="36576" bIns="18288">
            <a:spAutoFit/>
          </a:bodyPr>
          <a:lstStyle/>
          <a:p>
            <a:pPr>
              <a:spcAft>
                <a:spcPts val="400"/>
              </a:spcAft>
            </a:pPr>
            <a:r>
              <a:rPr sz="1600" b="1" i="0">
                <a:solidFill>
                  <a:srgbClr val="0A1F44"/>
                </a:solidFill>
                <a:latin typeface="Calibri"/>
              </a:rPr>
              <a:t>Five Research Objectives</a:t>
            </a:r>
          </a:p>
        </p:txBody>
      </p:sp>
      <p:sp>
        <p:nvSpPr>
          <p:cNvPr id="11" name="Rounded Rectangle 10"/>
          <p:cNvSpPr/>
          <p:nvPr/>
        </p:nvSpPr>
        <p:spPr>
          <a:xfrm>
            <a:off x="685800" y="2834640"/>
            <a:ext cx="457200" cy="457200"/>
          </a:xfrm>
          <a:prstGeom prst="roundRect">
            <a:avLst>
              <a:gd name="adj" fmla="val 40000"/>
            </a:avLst>
          </a:prstGeom>
          <a:gradFill flip="none" rotWithShape="1">
            <a:gsLst>
              <a:gs pos="0">
                <a:srgbClr val="0A1F44"/>
              </a:gs>
              <a:gs pos="100000">
                <a:srgbClr val="00C8FF"/>
              </a:gs>
            </a:gsLst>
            <a:lin ang="8100000" scaled="1"/>
          </a:gradFill>
          <a:ln>
            <a:noFill/>
          </a:ln>
          <a:effectLst>
            <a:glow rad="101600">
              <a:srgbClr val="00C8FF">
                <a:alpha val="35000"/>
              </a:srgbClr>
            </a:glo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100" b="1" i="0">
                <a:solidFill>
                  <a:srgbClr val="FFFFFF"/>
                </a:solidFill>
                <a:latin typeface="Calibri"/>
              </a:rPr>
              <a:t>O1</a:t>
            </a:r>
          </a:p>
        </p:txBody>
      </p:sp>
      <p:sp>
        <p:nvSpPr>
          <p:cNvPr id="12" name="TextBox 11"/>
          <p:cNvSpPr txBox="1"/>
          <p:nvPr/>
        </p:nvSpPr>
        <p:spPr>
          <a:xfrm>
            <a:off x="1280160" y="2889504"/>
            <a:ext cx="5806440" cy="502920"/>
          </a:xfrm>
          <a:prstGeom prst="rect">
            <a:avLst/>
          </a:prstGeom>
          <a:noFill/>
        </p:spPr>
        <p:txBody>
          <a:bodyPr wrap="square" lIns="36576" tIns="18288" rIns="36576" bIns="18288">
            <a:spAutoFit/>
          </a:bodyPr>
          <a:lstStyle/>
          <a:p>
            <a:pPr>
              <a:spcAft>
                <a:spcPts val="400"/>
              </a:spcAft>
            </a:pPr>
            <a:r>
              <a:rPr sz="1300" b="0" i="0">
                <a:solidFill>
                  <a:srgbClr val="0A101F"/>
                </a:solidFill>
                <a:latin typeface="Calibri"/>
              </a:rPr>
              <a:t>Analyse the growth and evolution of digital banking in India post-2016</a:t>
            </a:r>
          </a:p>
        </p:txBody>
      </p:sp>
      <p:sp>
        <p:nvSpPr>
          <p:cNvPr id="13" name="Rounded Rectangle 12"/>
          <p:cNvSpPr/>
          <p:nvPr/>
        </p:nvSpPr>
        <p:spPr>
          <a:xfrm>
            <a:off x="685800" y="3493008"/>
            <a:ext cx="457200" cy="457200"/>
          </a:xfrm>
          <a:prstGeom prst="roundRect">
            <a:avLst>
              <a:gd name="adj" fmla="val 40000"/>
            </a:avLst>
          </a:prstGeom>
          <a:gradFill flip="none" rotWithShape="1">
            <a:gsLst>
              <a:gs pos="0">
                <a:srgbClr val="0A1F44"/>
              </a:gs>
              <a:gs pos="100000">
                <a:srgbClr val="2E5BFF"/>
              </a:gs>
            </a:gsLst>
            <a:lin ang="8100000" scaled="1"/>
          </a:gradFill>
          <a:ln>
            <a:noFill/>
          </a:ln>
          <a:effectLst>
            <a:glow rad="101600">
              <a:srgbClr val="2E5BFF">
                <a:alpha val="35000"/>
              </a:srgbClr>
            </a:glo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100" b="1" i="0">
                <a:solidFill>
                  <a:srgbClr val="FFFFFF"/>
                </a:solidFill>
                <a:latin typeface="Calibri"/>
              </a:rPr>
              <a:t>O2</a:t>
            </a:r>
          </a:p>
        </p:txBody>
      </p:sp>
      <p:sp>
        <p:nvSpPr>
          <p:cNvPr id="14" name="TextBox 13"/>
          <p:cNvSpPr txBox="1"/>
          <p:nvPr/>
        </p:nvSpPr>
        <p:spPr>
          <a:xfrm>
            <a:off x="1280160" y="3547872"/>
            <a:ext cx="5806440" cy="502920"/>
          </a:xfrm>
          <a:prstGeom prst="rect">
            <a:avLst/>
          </a:prstGeom>
          <a:noFill/>
        </p:spPr>
        <p:txBody>
          <a:bodyPr wrap="square" lIns="36576" tIns="18288" rIns="36576" bIns="18288">
            <a:spAutoFit/>
          </a:bodyPr>
          <a:lstStyle/>
          <a:p>
            <a:pPr>
              <a:spcAft>
                <a:spcPts val="400"/>
              </a:spcAft>
            </a:pPr>
            <a:r>
              <a:rPr sz="1300" b="0" i="0">
                <a:solidFill>
                  <a:srgbClr val="0A101F"/>
                </a:solidFill>
                <a:latin typeface="Calibri"/>
              </a:rPr>
              <a:t>Evaluate the benefits and challenges via the YONO case</a:t>
            </a:r>
          </a:p>
        </p:txBody>
      </p:sp>
      <p:sp>
        <p:nvSpPr>
          <p:cNvPr id="15" name="Rounded Rectangle 14"/>
          <p:cNvSpPr/>
          <p:nvPr/>
        </p:nvSpPr>
        <p:spPr>
          <a:xfrm>
            <a:off x="685800" y="4151376"/>
            <a:ext cx="457200" cy="457200"/>
          </a:xfrm>
          <a:prstGeom prst="roundRect">
            <a:avLst>
              <a:gd name="adj" fmla="val 40000"/>
            </a:avLst>
          </a:prstGeom>
          <a:gradFill flip="none" rotWithShape="1">
            <a:gsLst>
              <a:gs pos="0">
                <a:srgbClr val="0A1F44"/>
              </a:gs>
              <a:gs pos="100000">
                <a:srgbClr val="1E4FB5"/>
              </a:gs>
            </a:gsLst>
            <a:lin ang="8100000" scaled="1"/>
          </a:gradFill>
          <a:ln>
            <a:noFill/>
          </a:ln>
          <a:effectLst>
            <a:glow rad="101600">
              <a:srgbClr val="1E4FB5">
                <a:alpha val="35000"/>
              </a:srgbClr>
            </a:glo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100" b="1" i="0">
                <a:solidFill>
                  <a:srgbClr val="FFFFFF"/>
                </a:solidFill>
                <a:latin typeface="Calibri"/>
              </a:rPr>
              <a:t>O3</a:t>
            </a:r>
          </a:p>
        </p:txBody>
      </p:sp>
      <p:sp>
        <p:nvSpPr>
          <p:cNvPr id="16" name="TextBox 15"/>
          <p:cNvSpPr txBox="1"/>
          <p:nvPr/>
        </p:nvSpPr>
        <p:spPr>
          <a:xfrm>
            <a:off x="1280160" y="4206240"/>
            <a:ext cx="5806440" cy="502920"/>
          </a:xfrm>
          <a:prstGeom prst="rect">
            <a:avLst/>
          </a:prstGeom>
          <a:noFill/>
        </p:spPr>
        <p:txBody>
          <a:bodyPr wrap="square" lIns="36576" tIns="18288" rIns="36576" bIns="18288">
            <a:spAutoFit/>
          </a:bodyPr>
          <a:lstStyle/>
          <a:p>
            <a:pPr>
              <a:spcAft>
                <a:spcPts val="400"/>
              </a:spcAft>
            </a:pPr>
            <a:r>
              <a:rPr sz="1300" b="0" i="0">
                <a:solidFill>
                  <a:srgbClr val="0A101F"/>
                </a:solidFill>
                <a:latin typeface="Calibri"/>
              </a:rPr>
              <a:t>Examine the impact on financial management practices</a:t>
            </a:r>
          </a:p>
        </p:txBody>
      </p:sp>
      <p:sp>
        <p:nvSpPr>
          <p:cNvPr id="17" name="Rounded Rectangle 16"/>
          <p:cNvSpPr/>
          <p:nvPr/>
        </p:nvSpPr>
        <p:spPr>
          <a:xfrm>
            <a:off x="685800" y="4809744"/>
            <a:ext cx="457200" cy="457200"/>
          </a:xfrm>
          <a:prstGeom prst="roundRect">
            <a:avLst>
              <a:gd name="adj" fmla="val 40000"/>
            </a:avLst>
          </a:prstGeom>
          <a:gradFill flip="none" rotWithShape="1">
            <a:gsLst>
              <a:gs pos="0">
                <a:srgbClr val="0A1F44"/>
              </a:gs>
              <a:gs pos="100000">
                <a:srgbClr val="12B79E"/>
              </a:gs>
            </a:gsLst>
            <a:lin ang="8100000" scaled="1"/>
          </a:gradFill>
          <a:ln>
            <a:noFill/>
          </a:ln>
          <a:effectLst>
            <a:glow rad="101600">
              <a:srgbClr val="12B79E">
                <a:alpha val="35000"/>
              </a:srgbClr>
            </a:glo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100" b="1" i="0">
                <a:solidFill>
                  <a:srgbClr val="FFFFFF"/>
                </a:solidFill>
                <a:latin typeface="Calibri"/>
              </a:rPr>
              <a:t>O4</a:t>
            </a:r>
          </a:p>
        </p:txBody>
      </p:sp>
      <p:sp>
        <p:nvSpPr>
          <p:cNvPr id="18" name="TextBox 17"/>
          <p:cNvSpPr txBox="1"/>
          <p:nvPr/>
        </p:nvSpPr>
        <p:spPr>
          <a:xfrm>
            <a:off x="1280160" y="4864608"/>
            <a:ext cx="5806440" cy="502920"/>
          </a:xfrm>
          <a:prstGeom prst="rect">
            <a:avLst/>
          </a:prstGeom>
          <a:noFill/>
        </p:spPr>
        <p:txBody>
          <a:bodyPr wrap="square" lIns="36576" tIns="18288" rIns="36576" bIns="18288">
            <a:spAutoFit/>
          </a:bodyPr>
          <a:lstStyle/>
          <a:p>
            <a:pPr>
              <a:spcAft>
                <a:spcPts val="400"/>
              </a:spcAft>
            </a:pPr>
            <a:r>
              <a:rPr sz="1300" b="0" i="0">
                <a:solidFill>
                  <a:srgbClr val="0A101F"/>
                </a:solidFill>
                <a:latin typeface="Calibri"/>
              </a:rPr>
              <a:t>Identify the key trends and future prospects</a:t>
            </a:r>
          </a:p>
        </p:txBody>
      </p:sp>
      <p:sp>
        <p:nvSpPr>
          <p:cNvPr id="19" name="Rounded Rectangle 18"/>
          <p:cNvSpPr/>
          <p:nvPr/>
        </p:nvSpPr>
        <p:spPr>
          <a:xfrm>
            <a:off x="685800" y="5468112"/>
            <a:ext cx="457200" cy="457200"/>
          </a:xfrm>
          <a:prstGeom prst="roundRect">
            <a:avLst>
              <a:gd name="adj" fmla="val 40000"/>
            </a:avLst>
          </a:prstGeom>
          <a:gradFill flip="none" rotWithShape="1">
            <a:gsLst>
              <a:gs pos="0">
                <a:srgbClr val="0A1F44"/>
              </a:gs>
              <a:gs pos="100000">
                <a:srgbClr val="22A06B"/>
              </a:gs>
            </a:gsLst>
            <a:lin ang="8100000" scaled="1"/>
          </a:gradFill>
          <a:ln>
            <a:noFill/>
          </a:ln>
          <a:effectLst>
            <a:glow rad="101600">
              <a:srgbClr val="22A06B">
                <a:alpha val="35000"/>
              </a:srgbClr>
            </a:glow>
          </a:effectLst>
        </p:spPr>
        <p:style>
          <a:lnRef idx="1">
            <a:schemeClr val="accent1"/>
          </a:lnRef>
          <a:fillRef idx="3">
            <a:schemeClr val="accent1"/>
          </a:fillRef>
          <a:effectRef idx="2">
            <a:schemeClr val="accent1"/>
          </a:effectRef>
          <a:fontRef idx="minor">
            <a:schemeClr val="lt1"/>
          </a:fontRef>
        </p:style>
        <p:txBody>
          <a:bodyPr lIns="18288" tIns="18288" rIns="18288" bIns="18288" rtlCol="0" anchor="ctr"/>
          <a:lstStyle/>
          <a:p>
            <a:pPr algn="ctr">
              <a:spcAft>
                <a:spcPts val="400"/>
              </a:spcAft>
            </a:pPr>
            <a:r>
              <a:rPr sz="1100" b="1" i="0">
                <a:solidFill>
                  <a:srgbClr val="FFFFFF"/>
                </a:solidFill>
                <a:latin typeface="Calibri"/>
              </a:rPr>
              <a:t>O5</a:t>
            </a:r>
          </a:p>
        </p:txBody>
      </p:sp>
      <p:sp>
        <p:nvSpPr>
          <p:cNvPr id="20" name="TextBox 19"/>
          <p:cNvSpPr txBox="1"/>
          <p:nvPr/>
        </p:nvSpPr>
        <p:spPr>
          <a:xfrm>
            <a:off x="1280160" y="5522976"/>
            <a:ext cx="5806440" cy="502920"/>
          </a:xfrm>
          <a:prstGeom prst="rect">
            <a:avLst/>
          </a:prstGeom>
          <a:noFill/>
        </p:spPr>
        <p:txBody>
          <a:bodyPr wrap="square" lIns="36576" tIns="18288" rIns="36576" bIns="18288">
            <a:spAutoFit/>
          </a:bodyPr>
          <a:lstStyle/>
          <a:p>
            <a:pPr>
              <a:spcAft>
                <a:spcPts val="400"/>
              </a:spcAft>
            </a:pPr>
            <a:r>
              <a:rPr sz="1300" b="0" i="0">
                <a:solidFill>
                  <a:srgbClr val="0A101F"/>
                </a:solidFill>
                <a:latin typeface="Calibri"/>
              </a:rPr>
              <a:t>Derive career-relevant recommendations for MBA students</a:t>
            </a:r>
          </a:p>
        </p:txBody>
      </p:sp>
      <p:sp>
        <p:nvSpPr>
          <p:cNvPr id="21" name="Rounded Rectangle 20"/>
          <p:cNvSpPr/>
          <p:nvPr/>
        </p:nvSpPr>
        <p:spPr>
          <a:xfrm>
            <a:off x="7498079" y="2057400"/>
            <a:ext cx="4297680" cy="4297680"/>
          </a:xfrm>
          <a:prstGeom prst="roundRect">
            <a:avLst>
              <a:gd name="adj" fmla="val 5000"/>
            </a:avLst>
          </a:prstGeom>
          <a:gradFill flip="none" rotWithShape="1">
            <a:gsLst>
              <a:gs pos="0">
                <a:srgbClr val="1E4FB5"/>
              </a:gs>
              <a:gs pos="100000">
                <a:srgbClr val="12B79E"/>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772399" y="2240280"/>
            <a:ext cx="3749040" cy="411480"/>
          </a:xfrm>
          <a:prstGeom prst="rect">
            <a:avLst/>
          </a:prstGeom>
          <a:noFill/>
        </p:spPr>
        <p:txBody>
          <a:bodyPr wrap="square" lIns="36576" tIns="18288" rIns="36576" bIns="18288">
            <a:spAutoFit/>
          </a:bodyPr>
          <a:lstStyle/>
          <a:p>
            <a:pPr>
              <a:spcAft>
                <a:spcPts val="400"/>
              </a:spcAft>
            </a:pPr>
            <a:r>
              <a:rPr sz="1600" b="1" i="0">
                <a:solidFill>
                  <a:srgbClr val="FFFFFF"/>
                </a:solidFill>
                <a:latin typeface="Calibri"/>
              </a:rPr>
              <a:t>Core Research Questions</a:t>
            </a:r>
          </a:p>
        </p:txBody>
      </p:sp>
      <p:sp>
        <p:nvSpPr>
          <p:cNvPr id="23" name="TextBox 22"/>
          <p:cNvSpPr txBox="1"/>
          <p:nvPr/>
        </p:nvSpPr>
        <p:spPr>
          <a:xfrm>
            <a:off x="7772399" y="2834640"/>
            <a:ext cx="3749040" cy="3383280"/>
          </a:xfrm>
          <a:prstGeom prst="rect">
            <a:avLst/>
          </a:prstGeom>
          <a:noFill/>
        </p:spPr>
        <p:txBody>
          <a:bodyPr wrap="square" lIns="36576" tIns="18288" rIns="36576" bIns="18288">
            <a:spAutoFit/>
          </a:bodyPr>
          <a:lstStyle/>
          <a:p>
            <a:pPr>
              <a:spcAft>
                <a:spcPts val="1400"/>
              </a:spcAft>
            </a:pPr>
            <a:r>
              <a:rPr sz="1400" b="0" i="0">
                <a:solidFill>
                  <a:srgbClr val="FFFFFF"/>
                </a:solidFill>
                <a:latin typeface="Calibri"/>
              </a:rPr>
              <a:t>•  Evolution of YONO since 2016</a:t>
            </a:r>
          </a:p>
          <a:p>
            <a:pPr>
              <a:spcAft>
                <a:spcPts val="1400"/>
              </a:spcAft>
            </a:pPr>
            <a:r>
              <a:rPr sz="1400" b="0" i="0">
                <a:solidFill>
                  <a:srgbClr val="FFFFFF"/>
                </a:solidFill>
                <a:latin typeface="Calibri"/>
              </a:rPr>
              <a:t>•  Benefits vs Challenges</a:t>
            </a:r>
          </a:p>
          <a:p>
            <a:pPr>
              <a:spcAft>
                <a:spcPts val="1400"/>
              </a:spcAft>
            </a:pPr>
            <a:r>
              <a:rPr sz="1400" b="0" i="0">
                <a:solidFill>
                  <a:srgbClr val="FFFFFF"/>
                </a:solidFill>
                <a:latin typeface="Calibri"/>
              </a:rPr>
              <a:t>•  Impact on FM practice</a:t>
            </a:r>
          </a:p>
          <a:p>
            <a:pPr>
              <a:spcAft>
                <a:spcPts val="1400"/>
              </a:spcAft>
            </a:pPr>
            <a:r>
              <a:rPr sz="1400" b="0" i="0">
                <a:solidFill>
                  <a:srgbClr val="FFFFFF"/>
                </a:solidFill>
                <a:latin typeface="Calibri"/>
              </a:rPr>
              <a:t>•  Future trends in digital banking</a:t>
            </a:r>
          </a:p>
          <a:p>
            <a:pPr>
              <a:spcAft>
                <a:spcPts val="1400"/>
              </a:spcAft>
            </a:pPr>
            <a:r>
              <a:rPr sz="1400" b="0" i="0">
                <a:solidFill>
                  <a:srgbClr val="FFFFFF"/>
                </a:solidFill>
                <a:latin typeface="Calibri"/>
              </a:rPr>
              <a:t>•  Skills for MBA finance students</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Three Theories, Ten Studies, One Research Gap</a:t>
            </a:r>
          </a:p>
        </p:txBody>
      </p:sp>
      <p:sp>
        <p:nvSpPr>
          <p:cNvPr id="7" name="Rounded Rectangle 6"/>
          <p:cNvSpPr/>
          <p:nvPr/>
        </p:nvSpPr>
        <p:spPr>
          <a:xfrm>
            <a:off x="411480" y="868680"/>
            <a:ext cx="3703320" cy="2331720"/>
          </a:xfrm>
          <a:prstGeom prst="roundRect">
            <a:avLst>
              <a:gd name="adj" fmla="val 5000"/>
            </a:avLst>
          </a:prstGeom>
          <a:gradFill flip="none" rotWithShape="1">
            <a:gsLst>
              <a:gs pos="0">
                <a:srgbClr val="0A1F44"/>
              </a:gs>
              <a:gs pos="100000">
                <a:srgbClr val="00C8FF"/>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051560"/>
            <a:ext cx="3154680" cy="50292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TAM</a:t>
            </a:r>
          </a:p>
        </p:txBody>
      </p:sp>
      <p:sp>
        <p:nvSpPr>
          <p:cNvPr id="9" name="TextBox 8"/>
          <p:cNvSpPr txBox="1"/>
          <p:nvPr/>
        </p:nvSpPr>
        <p:spPr>
          <a:xfrm>
            <a:off x="685800" y="1554480"/>
            <a:ext cx="3154680" cy="274320"/>
          </a:xfrm>
          <a:prstGeom prst="rect">
            <a:avLst/>
          </a:prstGeom>
          <a:noFill/>
        </p:spPr>
        <p:txBody>
          <a:bodyPr wrap="square" lIns="36576" tIns="18288" rIns="36576" bIns="18288">
            <a:spAutoFit/>
          </a:bodyPr>
          <a:lstStyle/>
          <a:p>
            <a:pPr>
              <a:spcAft>
                <a:spcPts val="400"/>
              </a:spcAft>
            </a:pPr>
            <a:r>
              <a:rPr sz="1100" b="0" i="1">
                <a:solidFill>
                  <a:srgbClr val="00C8FF"/>
                </a:solidFill>
                <a:latin typeface="Calibri"/>
              </a:rPr>
              <a:t>Davis (1989)</a:t>
            </a:r>
          </a:p>
        </p:txBody>
      </p:sp>
      <p:sp>
        <p:nvSpPr>
          <p:cNvPr id="10" name="TextBox 9"/>
          <p:cNvSpPr txBox="1"/>
          <p:nvPr/>
        </p:nvSpPr>
        <p:spPr>
          <a:xfrm>
            <a:off x="685800" y="1874520"/>
            <a:ext cx="3154680" cy="1234440"/>
          </a:xfrm>
          <a:prstGeom prst="rect">
            <a:avLst/>
          </a:prstGeom>
          <a:noFill/>
        </p:spPr>
        <p:txBody>
          <a:bodyPr wrap="square" lIns="36576" tIns="18288" rIns="36576" bIns="18288">
            <a:spAutoFit/>
          </a:bodyPr>
          <a:lstStyle/>
          <a:p>
            <a:pPr>
              <a:spcAft>
                <a:spcPts val="400"/>
              </a:spcAft>
            </a:pPr>
            <a:r>
              <a:rPr sz="1100" b="0" i="0">
                <a:solidFill>
                  <a:srgbClr val="E7EEFB"/>
                </a:solidFill>
                <a:latin typeface="Calibri"/>
              </a:rPr>
              <a:t>Perceived Usefulness + Ease of Use drive adoption. Maps to YONO 1.0 UX gaps and the YONO 2.0 redesign.</a:t>
            </a:r>
          </a:p>
        </p:txBody>
      </p:sp>
      <p:sp>
        <p:nvSpPr>
          <p:cNvPr id="11" name="Rounded Rectangle 10"/>
          <p:cNvSpPr/>
          <p:nvPr/>
        </p:nvSpPr>
        <p:spPr>
          <a:xfrm>
            <a:off x="4297680" y="868680"/>
            <a:ext cx="3703320" cy="2331720"/>
          </a:xfrm>
          <a:prstGeom prst="roundRect">
            <a:avLst>
              <a:gd name="adj" fmla="val 5000"/>
            </a:avLst>
          </a:prstGeom>
          <a:gradFill flip="none" rotWithShape="1">
            <a:gsLst>
              <a:gs pos="0">
                <a:srgbClr val="0A1F44"/>
              </a:gs>
              <a:gs pos="100000">
                <a:srgbClr val="2E5BFF"/>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051560"/>
            <a:ext cx="3154680" cy="50292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UTAUT</a:t>
            </a:r>
          </a:p>
        </p:txBody>
      </p:sp>
      <p:sp>
        <p:nvSpPr>
          <p:cNvPr id="13" name="TextBox 12"/>
          <p:cNvSpPr txBox="1"/>
          <p:nvPr/>
        </p:nvSpPr>
        <p:spPr>
          <a:xfrm>
            <a:off x="4572000" y="1554480"/>
            <a:ext cx="3154680" cy="274320"/>
          </a:xfrm>
          <a:prstGeom prst="rect">
            <a:avLst/>
          </a:prstGeom>
          <a:noFill/>
        </p:spPr>
        <p:txBody>
          <a:bodyPr wrap="square" lIns="36576" tIns="18288" rIns="36576" bIns="18288">
            <a:spAutoFit/>
          </a:bodyPr>
          <a:lstStyle/>
          <a:p>
            <a:pPr>
              <a:spcAft>
                <a:spcPts val="400"/>
              </a:spcAft>
            </a:pPr>
            <a:r>
              <a:rPr sz="1100" b="0" i="1">
                <a:solidFill>
                  <a:srgbClr val="2E5BFF"/>
                </a:solidFill>
                <a:latin typeface="Calibri"/>
              </a:rPr>
              <a:t>Venkatesh et al. (2003)</a:t>
            </a:r>
          </a:p>
        </p:txBody>
      </p:sp>
      <p:sp>
        <p:nvSpPr>
          <p:cNvPr id="14" name="TextBox 13"/>
          <p:cNvSpPr txBox="1"/>
          <p:nvPr/>
        </p:nvSpPr>
        <p:spPr>
          <a:xfrm>
            <a:off x="4572000" y="1874520"/>
            <a:ext cx="3154680" cy="1234440"/>
          </a:xfrm>
          <a:prstGeom prst="rect">
            <a:avLst/>
          </a:prstGeom>
          <a:noFill/>
        </p:spPr>
        <p:txBody>
          <a:bodyPr wrap="square" lIns="36576" tIns="18288" rIns="36576" bIns="18288">
            <a:spAutoFit/>
          </a:bodyPr>
          <a:lstStyle/>
          <a:p>
            <a:pPr>
              <a:spcAft>
                <a:spcPts val="400"/>
              </a:spcAft>
            </a:pPr>
            <a:r>
              <a:rPr sz="1100" b="0" i="0">
                <a:solidFill>
                  <a:srgbClr val="E7EEFB"/>
                </a:solidFill>
                <a:latin typeface="Calibri"/>
              </a:rPr>
              <a:t>Performance, Effort, Social Influence, Facilitating Conditions  -  explains 70% of variance.</a:t>
            </a:r>
          </a:p>
        </p:txBody>
      </p:sp>
      <p:sp>
        <p:nvSpPr>
          <p:cNvPr id="15" name="Rounded Rectangle 14"/>
          <p:cNvSpPr/>
          <p:nvPr/>
        </p:nvSpPr>
        <p:spPr>
          <a:xfrm>
            <a:off x="8183880" y="868680"/>
            <a:ext cx="3703320" cy="2331720"/>
          </a:xfrm>
          <a:prstGeom prst="roundRect">
            <a:avLst>
              <a:gd name="adj" fmla="val 5000"/>
            </a:avLst>
          </a:prstGeom>
          <a:gradFill flip="none" rotWithShape="1">
            <a:gsLst>
              <a:gs pos="0">
                <a:srgbClr val="0A1F44"/>
              </a:gs>
              <a:gs pos="100000">
                <a:srgbClr val="22A06B"/>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458200" y="1051560"/>
            <a:ext cx="3154680" cy="50292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Diffusion</a:t>
            </a:r>
          </a:p>
        </p:txBody>
      </p:sp>
      <p:sp>
        <p:nvSpPr>
          <p:cNvPr id="17" name="TextBox 16"/>
          <p:cNvSpPr txBox="1"/>
          <p:nvPr/>
        </p:nvSpPr>
        <p:spPr>
          <a:xfrm>
            <a:off x="8458200" y="1554480"/>
            <a:ext cx="3154680" cy="274320"/>
          </a:xfrm>
          <a:prstGeom prst="rect">
            <a:avLst/>
          </a:prstGeom>
          <a:noFill/>
        </p:spPr>
        <p:txBody>
          <a:bodyPr wrap="square" lIns="36576" tIns="18288" rIns="36576" bIns="18288">
            <a:spAutoFit/>
          </a:bodyPr>
          <a:lstStyle/>
          <a:p>
            <a:pPr>
              <a:spcAft>
                <a:spcPts val="400"/>
              </a:spcAft>
            </a:pPr>
            <a:r>
              <a:rPr sz="1100" b="0" i="1">
                <a:solidFill>
                  <a:srgbClr val="22A06B"/>
                </a:solidFill>
                <a:latin typeface="Calibri"/>
              </a:rPr>
              <a:t>Rogers (1995)</a:t>
            </a:r>
          </a:p>
        </p:txBody>
      </p:sp>
      <p:sp>
        <p:nvSpPr>
          <p:cNvPr id="18" name="TextBox 17"/>
          <p:cNvSpPr txBox="1"/>
          <p:nvPr/>
        </p:nvSpPr>
        <p:spPr>
          <a:xfrm>
            <a:off x="8458200" y="1874520"/>
            <a:ext cx="3154680" cy="1234440"/>
          </a:xfrm>
          <a:prstGeom prst="rect">
            <a:avLst/>
          </a:prstGeom>
          <a:noFill/>
        </p:spPr>
        <p:txBody>
          <a:bodyPr wrap="square" lIns="36576" tIns="18288" rIns="36576" bIns="18288">
            <a:spAutoFit/>
          </a:bodyPr>
          <a:lstStyle/>
          <a:p>
            <a:pPr>
              <a:spcAft>
                <a:spcPts val="400"/>
              </a:spcAft>
            </a:pPr>
            <a:r>
              <a:rPr sz="1100" b="0" i="0">
                <a:solidFill>
                  <a:srgbClr val="E7EEFB"/>
                </a:solidFill>
                <a:latin typeface="Calibri"/>
              </a:rPr>
              <a:t>Innovators - Early Adopters - Majority - Laggards. YONO is now transitioning to the late majority.</a:t>
            </a:r>
          </a:p>
        </p:txBody>
      </p:sp>
      <p:sp>
        <p:nvSpPr>
          <p:cNvPr id="19" name="Rounded Rectangle 18"/>
          <p:cNvSpPr/>
          <p:nvPr/>
        </p:nvSpPr>
        <p:spPr>
          <a:xfrm>
            <a:off x="411480" y="3337560"/>
            <a:ext cx="6858000" cy="301752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85800" y="3520440"/>
            <a:ext cx="6309360" cy="411480"/>
          </a:xfrm>
          <a:prstGeom prst="rect">
            <a:avLst/>
          </a:prstGeom>
          <a:noFill/>
        </p:spPr>
        <p:txBody>
          <a:bodyPr wrap="square" lIns="36576" tIns="18288" rIns="36576" bIns="18288">
            <a:spAutoFit/>
          </a:bodyPr>
          <a:lstStyle/>
          <a:p>
            <a:pPr>
              <a:spcAft>
                <a:spcPts val="400"/>
              </a:spcAft>
            </a:pPr>
            <a:r>
              <a:rPr sz="1500" b="1" i="0">
                <a:solidFill>
                  <a:srgbClr val="0A1F44"/>
                </a:solidFill>
                <a:latin typeface="Calibri"/>
              </a:rPr>
              <a:t>Key Empirical Studies (Selection)</a:t>
            </a:r>
          </a:p>
        </p:txBody>
      </p:sp>
      <p:sp>
        <p:nvSpPr>
          <p:cNvPr id="21" name="TextBox 20"/>
          <p:cNvSpPr txBox="1"/>
          <p:nvPr/>
        </p:nvSpPr>
        <p:spPr>
          <a:xfrm>
            <a:off x="685800" y="3977640"/>
            <a:ext cx="6309360" cy="2194560"/>
          </a:xfrm>
          <a:prstGeom prst="rect">
            <a:avLst/>
          </a:prstGeom>
          <a:noFill/>
        </p:spPr>
        <p:txBody>
          <a:bodyPr wrap="square" lIns="36576" tIns="18288" rIns="36576" bIns="18288">
            <a:spAutoFit/>
          </a:bodyPr>
          <a:lstStyle/>
          <a:p>
            <a:pPr>
              <a:spcAft>
                <a:spcPts val="800"/>
              </a:spcAft>
            </a:pPr>
            <a:r>
              <a:rPr sz="1200" b="0" i="0">
                <a:solidFill>
                  <a:srgbClr val="0A101F"/>
                </a:solidFill>
                <a:latin typeface="Calibri"/>
              </a:rPr>
              <a:t>•  Saxena et al. (2023)  -  Government support mediates adoption (India SEM)</a:t>
            </a:r>
          </a:p>
          <a:p>
            <a:pPr>
              <a:spcAft>
                <a:spcPts val="800"/>
              </a:spcAft>
            </a:pPr>
            <a:r>
              <a:rPr sz="1200" b="0" i="0">
                <a:solidFill>
                  <a:srgbClr val="0A101F"/>
                </a:solidFill>
                <a:latin typeface="Calibri"/>
              </a:rPr>
              <a:t>•  Chauhan et al. (2022)  -  Risk negatively moderates intent (n=721)</a:t>
            </a:r>
          </a:p>
          <a:p>
            <a:pPr>
              <a:spcAft>
                <a:spcPts val="800"/>
              </a:spcAft>
            </a:pPr>
            <a:r>
              <a:rPr sz="1200" b="0" i="0">
                <a:solidFill>
                  <a:srgbClr val="0A101F"/>
                </a:solidFill>
                <a:latin typeface="Calibri"/>
              </a:rPr>
              <a:t>•  Mer et al. (2023)  -  Risk perception is millennials' biggest barrier</a:t>
            </a:r>
          </a:p>
          <a:p>
            <a:pPr>
              <a:spcAft>
                <a:spcPts val="800"/>
              </a:spcAft>
            </a:pPr>
            <a:r>
              <a:rPr sz="1200" b="0" i="0">
                <a:solidFill>
                  <a:srgbClr val="0A101F"/>
                </a:solidFill>
                <a:latin typeface="Calibri"/>
              </a:rPr>
              <a:t>•  Jadil et al. (2021)  -  Meta-analysis of 127 studies; culture matters</a:t>
            </a:r>
          </a:p>
          <a:p>
            <a:pPr>
              <a:spcAft>
                <a:spcPts val="800"/>
              </a:spcAft>
            </a:pPr>
            <a:r>
              <a:rPr sz="1200" b="0" i="0">
                <a:solidFill>
                  <a:srgbClr val="0A101F"/>
                </a:solidFill>
                <a:latin typeface="Calibri"/>
              </a:rPr>
              <a:t>•  Balasundaram et al. (2025)  -  Digital inclusion lowers Gini by 0.243</a:t>
            </a:r>
          </a:p>
        </p:txBody>
      </p:sp>
      <p:sp>
        <p:nvSpPr>
          <p:cNvPr id="22" name="Rounded Rectangle 21"/>
          <p:cNvSpPr/>
          <p:nvPr/>
        </p:nvSpPr>
        <p:spPr>
          <a:xfrm>
            <a:off x="7498080" y="3337560"/>
            <a:ext cx="4434840" cy="3017520"/>
          </a:xfrm>
          <a:prstGeom prst="roundRect">
            <a:avLst>
              <a:gd name="adj" fmla="val 5000"/>
            </a:avLst>
          </a:prstGeom>
          <a:gradFill flip="none" rotWithShape="1">
            <a:gsLst>
              <a:gs pos="0">
                <a:srgbClr val="FFB83B"/>
              </a:gs>
              <a:gs pos="100000">
                <a:srgbClr val="E86B29"/>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0" y="3520440"/>
            <a:ext cx="3886200" cy="411480"/>
          </a:xfrm>
          <a:prstGeom prst="rect">
            <a:avLst/>
          </a:prstGeom>
          <a:noFill/>
        </p:spPr>
        <p:txBody>
          <a:bodyPr wrap="square" lIns="36576" tIns="18288" rIns="36576" bIns="18288">
            <a:spAutoFit/>
          </a:bodyPr>
          <a:lstStyle/>
          <a:p>
            <a:pPr>
              <a:spcAft>
                <a:spcPts val="400"/>
              </a:spcAft>
            </a:pPr>
            <a:r>
              <a:rPr sz="1600" b="1" i="0">
                <a:solidFill>
                  <a:srgbClr val="FFFFFF"/>
                </a:solidFill>
                <a:latin typeface="Calibri"/>
              </a:rPr>
              <a:t>Research Gap</a:t>
            </a:r>
          </a:p>
        </p:txBody>
      </p:sp>
      <p:sp>
        <p:nvSpPr>
          <p:cNvPr id="24" name="TextBox 23"/>
          <p:cNvSpPr txBox="1"/>
          <p:nvPr/>
        </p:nvSpPr>
        <p:spPr>
          <a:xfrm>
            <a:off x="7772400" y="3977640"/>
            <a:ext cx="3886200" cy="2194560"/>
          </a:xfrm>
          <a:prstGeom prst="rect">
            <a:avLst/>
          </a:prstGeom>
          <a:noFill/>
        </p:spPr>
        <p:txBody>
          <a:bodyPr wrap="square" lIns="36576" tIns="18288" rIns="36576" bIns="18288">
            <a:spAutoFit/>
          </a:bodyPr>
          <a:lstStyle/>
          <a:p>
            <a:pPr>
              <a:spcAft>
                <a:spcPts val="1200"/>
              </a:spcAft>
            </a:pPr>
            <a:r>
              <a:rPr sz="1200" b="0" i="0">
                <a:solidFill>
                  <a:srgbClr val="FFFFFF"/>
                </a:solidFill>
                <a:latin typeface="Calibri"/>
              </a:rPr>
              <a:t>•  No institution-specific theorising of public-sector super-apps</a:t>
            </a:r>
          </a:p>
          <a:p>
            <a:pPr>
              <a:spcAft>
                <a:spcPts val="1200"/>
              </a:spcAft>
            </a:pPr>
            <a:r>
              <a:rPr sz="1200" b="0" i="0">
                <a:solidFill>
                  <a:srgbClr val="FFFFFF"/>
                </a:solidFill>
                <a:latin typeface="Calibri"/>
              </a:rPr>
              <a:t>•  Existing YONO studies are small and descriptive</a:t>
            </a:r>
          </a:p>
          <a:p>
            <a:pPr>
              <a:spcAft>
                <a:spcPts val="1200"/>
              </a:spcAft>
            </a:pPr>
            <a:r>
              <a:rPr sz="1200" b="0" i="0">
                <a:solidFill>
                  <a:srgbClr val="FFFFFF"/>
                </a:solidFill>
                <a:latin typeface="Calibri"/>
              </a:rPr>
              <a:t>•  FM implications under-explored in Indian context</a:t>
            </a:r>
          </a:p>
        </p:txBody>
      </p:sp>
      <p:sp>
        <p:nvSpPr>
          <p:cNvPr id="25" name="Rectangle 24"/>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Mixed-Methods Design with Rigorous Reliability</a:t>
            </a:r>
          </a:p>
        </p:txBody>
      </p:sp>
      <p:sp>
        <p:nvSpPr>
          <p:cNvPr id="7" name="TextBox 6"/>
          <p:cNvSpPr txBox="1"/>
          <p:nvPr/>
        </p:nvSpPr>
        <p:spPr>
          <a:xfrm>
            <a:off x="548640" y="868680"/>
            <a:ext cx="10972800" cy="365760"/>
          </a:xfrm>
          <a:prstGeom prst="rect">
            <a:avLst/>
          </a:prstGeom>
          <a:noFill/>
        </p:spPr>
        <p:txBody>
          <a:bodyPr wrap="square" lIns="36576" tIns="18288" rIns="36576" bIns="18288">
            <a:spAutoFit/>
          </a:bodyPr>
          <a:lstStyle/>
          <a:p>
            <a:pPr>
              <a:spcAft>
                <a:spcPts val="400"/>
              </a:spcAft>
            </a:pPr>
            <a:r>
              <a:rPr sz="1300" b="0" i="1">
                <a:solidFill>
                  <a:srgbClr val="5A6478"/>
                </a:solidFill>
                <a:latin typeface="Calibri"/>
              </a:rPr>
              <a:t>Descriptive design with exploratory elements; primary survey supplemented by interviews and observation.</a:t>
            </a:r>
          </a:p>
        </p:txBody>
      </p:sp>
      <p:graphicFrame>
        <p:nvGraphicFramePr>
          <p:cNvPr id="8" name="Table 7"/>
          <p:cNvGraphicFramePr>
            <a:graphicFrameLocks noGrp="1"/>
          </p:cNvGraphicFramePr>
          <p:nvPr/>
        </p:nvGraphicFramePr>
        <p:xfrm>
          <a:off x="411480" y="1371600"/>
          <a:ext cx="7315200" cy="365760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522514">
                <a:tc>
                  <a:txBody>
                    <a:bodyPr/>
                    <a:lstStyle/>
                    <a:p>
                      <a:pPr algn="ctr"/>
                      <a:r>
                        <a:rPr sz="1300" b="1" i="0">
                          <a:solidFill>
                            <a:srgbClr val="FFFFFF"/>
                          </a:solidFill>
                          <a:latin typeface="Calibri"/>
                        </a:rPr>
                        <a:t>Element</a:t>
                      </a:r>
                    </a:p>
                  </a:txBody>
                  <a:tcPr anchor="ctr">
                    <a:solidFill>
                      <a:srgbClr val="0A1F44"/>
                    </a:solidFill>
                  </a:tcPr>
                </a:tc>
                <a:tc>
                  <a:txBody>
                    <a:bodyPr/>
                    <a:lstStyle/>
                    <a:p>
                      <a:pPr algn="ctr"/>
                      <a:r>
                        <a:rPr sz="1300" b="1" i="0">
                          <a:solidFill>
                            <a:srgbClr val="FFFFFF"/>
                          </a:solidFill>
                          <a:latin typeface="Calibri"/>
                        </a:rPr>
                        <a:t>Choice</a:t>
                      </a:r>
                    </a:p>
                  </a:txBody>
                  <a:tcPr anchor="ctr">
                    <a:solidFill>
                      <a:srgbClr val="0A1F44"/>
                    </a:solidFill>
                  </a:tcPr>
                </a:tc>
                <a:extLst>
                  <a:ext uri="{0D108BD9-81ED-4DB2-BD59-A6C34878D82A}">
                    <a16:rowId xmlns:a16="http://schemas.microsoft.com/office/drawing/2014/main" val="10000"/>
                  </a:ext>
                </a:extLst>
              </a:tr>
              <a:tr h="522514">
                <a:tc>
                  <a:txBody>
                    <a:bodyPr/>
                    <a:lstStyle/>
                    <a:p>
                      <a:pPr algn="l"/>
                      <a:r>
                        <a:rPr sz="1200" b="0" i="0">
                          <a:solidFill>
                            <a:srgbClr val="0A101F"/>
                          </a:solidFill>
                          <a:latin typeface="Calibri"/>
                        </a:rPr>
                        <a:t>Research Design</a:t>
                      </a:r>
                    </a:p>
                  </a:txBody>
                  <a:tcPr anchor="ctr">
                    <a:solidFill>
                      <a:srgbClr val="E7EEFB"/>
                    </a:solidFill>
                  </a:tcPr>
                </a:tc>
                <a:tc>
                  <a:txBody>
                    <a:bodyPr/>
                    <a:lstStyle/>
                    <a:p>
                      <a:pPr algn="ctr"/>
                      <a:r>
                        <a:rPr sz="1200" b="0" i="0">
                          <a:solidFill>
                            <a:srgbClr val="0A101F"/>
                          </a:solidFill>
                          <a:latin typeface="Calibri"/>
                        </a:rPr>
                        <a:t>Descriptive + Exploratory</a:t>
                      </a:r>
                    </a:p>
                  </a:txBody>
                  <a:tcPr anchor="ctr">
                    <a:solidFill>
                      <a:srgbClr val="E7EEFB"/>
                    </a:solidFill>
                  </a:tcPr>
                </a:tc>
                <a:extLst>
                  <a:ext uri="{0D108BD9-81ED-4DB2-BD59-A6C34878D82A}">
                    <a16:rowId xmlns:a16="http://schemas.microsoft.com/office/drawing/2014/main" val="10001"/>
                  </a:ext>
                </a:extLst>
              </a:tr>
              <a:tr h="522514">
                <a:tc>
                  <a:txBody>
                    <a:bodyPr/>
                    <a:lstStyle/>
                    <a:p>
                      <a:pPr algn="l"/>
                      <a:r>
                        <a:rPr sz="1200" b="0" i="0">
                          <a:solidFill>
                            <a:srgbClr val="0A101F"/>
                          </a:solidFill>
                          <a:latin typeface="Calibri"/>
                        </a:rPr>
                        <a:t>Data Type</a:t>
                      </a:r>
                    </a:p>
                  </a:txBody>
                  <a:tcPr anchor="ctr">
                    <a:solidFill>
                      <a:srgbClr val="FFFFFF"/>
                    </a:solidFill>
                  </a:tcPr>
                </a:tc>
                <a:tc>
                  <a:txBody>
                    <a:bodyPr/>
                    <a:lstStyle/>
                    <a:p>
                      <a:pPr algn="ctr"/>
                      <a:r>
                        <a:rPr sz="1200" b="0" i="0">
                          <a:solidFill>
                            <a:srgbClr val="0A101F"/>
                          </a:solidFill>
                          <a:latin typeface="Calibri"/>
                        </a:rPr>
                        <a:t>Primary (Survey + Interviews + Observation) + Secondary</a:t>
                      </a:r>
                    </a:p>
                  </a:txBody>
                  <a:tcPr anchor="ctr">
                    <a:solidFill>
                      <a:srgbClr val="FFFFFF"/>
                    </a:solidFill>
                  </a:tcPr>
                </a:tc>
                <a:extLst>
                  <a:ext uri="{0D108BD9-81ED-4DB2-BD59-A6C34878D82A}">
                    <a16:rowId xmlns:a16="http://schemas.microsoft.com/office/drawing/2014/main" val="10002"/>
                  </a:ext>
                </a:extLst>
              </a:tr>
              <a:tr h="522514">
                <a:tc>
                  <a:txBody>
                    <a:bodyPr/>
                    <a:lstStyle/>
                    <a:p>
                      <a:pPr algn="l"/>
                      <a:r>
                        <a:rPr sz="1200" b="0" i="0">
                          <a:solidFill>
                            <a:srgbClr val="0A101F"/>
                          </a:solidFill>
                          <a:latin typeface="Calibri"/>
                        </a:rPr>
                        <a:t>Sample Size</a:t>
                      </a:r>
                    </a:p>
                  </a:txBody>
                  <a:tcPr anchor="ctr">
                    <a:solidFill>
                      <a:srgbClr val="E7EEFB"/>
                    </a:solidFill>
                  </a:tcPr>
                </a:tc>
                <a:tc>
                  <a:txBody>
                    <a:bodyPr/>
                    <a:lstStyle/>
                    <a:p>
                      <a:pPr algn="ctr"/>
                      <a:r>
                        <a:rPr sz="1200" b="0" i="0">
                          <a:solidFill>
                            <a:srgbClr val="0A101F"/>
                          </a:solidFill>
                          <a:latin typeface="Calibri"/>
                        </a:rPr>
                        <a:t>150 YONO SBI users + 5 expert interviews</a:t>
                      </a:r>
                    </a:p>
                  </a:txBody>
                  <a:tcPr anchor="ctr">
                    <a:solidFill>
                      <a:srgbClr val="E7EEFB"/>
                    </a:solidFill>
                  </a:tcPr>
                </a:tc>
                <a:extLst>
                  <a:ext uri="{0D108BD9-81ED-4DB2-BD59-A6C34878D82A}">
                    <a16:rowId xmlns:a16="http://schemas.microsoft.com/office/drawing/2014/main" val="10003"/>
                  </a:ext>
                </a:extLst>
              </a:tr>
              <a:tr h="522514">
                <a:tc>
                  <a:txBody>
                    <a:bodyPr/>
                    <a:lstStyle/>
                    <a:p>
                      <a:pPr algn="l"/>
                      <a:r>
                        <a:rPr sz="1200" b="0" i="0">
                          <a:solidFill>
                            <a:srgbClr val="0A101F"/>
                          </a:solidFill>
                          <a:latin typeface="Calibri"/>
                        </a:rPr>
                        <a:t>Sampling Technique</a:t>
                      </a:r>
                    </a:p>
                  </a:txBody>
                  <a:tcPr anchor="ctr">
                    <a:solidFill>
                      <a:srgbClr val="FFFFFF"/>
                    </a:solidFill>
                  </a:tcPr>
                </a:tc>
                <a:tc>
                  <a:txBody>
                    <a:bodyPr/>
                    <a:lstStyle/>
                    <a:p>
                      <a:pPr algn="ctr"/>
                      <a:r>
                        <a:rPr sz="1200" b="0" i="0">
                          <a:solidFill>
                            <a:srgbClr val="0A101F"/>
                          </a:solidFill>
                          <a:latin typeface="Calibri"/>
                        </a:rPr>
                        <a:t>Purposive + Convenience</a:t>
                      </a:r>
                    </a:p>
                  </a:txBody>
                  <a:tcPr anchor="ctr">
                    <a:solidFill>
                      <a:srgbClr val="FFFFFF"/>
                    </a:solidFill>
                  </a:tcPr>
                </a:tc>
                <a:extLst>
                  <a:ext uri="{0D108BD9-81ED-4DB2-BD59-A6C34878D82A}">
                    <a16:rowId xmlns:a16="http://schemas.microsoft.com/office/drawing/2014/main" val="10004"/>
                  </a:ext>
                </a:extLst>
              </a:tr>
              <a:tr h="522514">
                <a:tc>
                  <a:txBody>
                    <a:bodyPr/>
                    <a:lstStyle/>
                    <a:p>
                      <a:pPr algn="l"/>
                      <a:r>
                        <a:rPr sz="1200" b="0" i="0">
                          <a:solidFill>
                            <a:srgbClr val="0A101F"/>
                          </a:solidFill>
                          <a:latin typeface="Calibri"/>
                        </a:rPr>
                        <a:t>Instrument</a:t>
                      </a:r>
                    </a:p>
                  </a:txBody>
                  <a:tcPr anchor="ctr">
                    <a:solidFill>
                      <a:srgbClr val="E7EEFB"/>
                    </a:solidFill>
                  </a:tcPr>
                </a:tc>
                <a:tc>
                  <a:txBody>
                    <a:bodyPr/>
                    <a:lstStyle/>
                    <a:p>
                      <a:pPr algn="ctr"/>
                      <a:r>
                        <a:rPr sz="1200" b="0" i="0">
                          <a:solidFill>
                            <a:srgbClr val="0A101F"/>
                          </a:solidFill>
                          <a:latin typeface="Calibri"/>
                        </a:rPr>
                        <a:t>30-item structured questionnaire (5 sections, 5-pt Likert)</a:t>
                      </a:r>
                    </a:p>
                  </a:txBody>
                  <a:tcPr anchor="ctr">
                    <a:solidFill>
                      <a:srgbClr val="E7EEFB"/>
                    </a:solidFill>
                  </a:tcPr>
                </a:tc>
                <a:extLst>
                  <a:ext uri="{0D108BD9-81ED-4DB2-BD59-A6C34878D82A}">
                    <a16:rowId xmlns:a16="http://schemas.microsoft.com/office/drawing/2014/main" val="10005"/>
                  </a:ext>
                </a:extLst>
              </a:tr>
              <a:tr h="522516">
                <a:tc>
                  <a:txBody>
                    <a:bodyPr/>
                    <a:lstStyle/>
                    <a:p>
                      <a:pPr algn="l"/>
                      <a:r>
                        <a:rPr sz="1200" b="0" i="0">
                          <a:solidFill>
                            <a:srgbClr val="0A101F"/>
                          </a:solidFill>
                          <a:latin typeface="Calibri"/>
                        </a:rPr>
                        <a:t>Software Tools</a:t>
                      </a:r>
                    </a:p>
                  </a:txBody>
                  <a:tcPr anchor="ctr">
                    <a:solidFill>
                      <a:srgbClr val="FFFFFF"/>
                    </a:solidFill>
                  </a:tcPr>
                </a:tc>
                <a:tc>
                  <a:txBody>
                    <a:bodyPr/>
                    <a:lstStyle/>
                    <a:p>
                      <a:pPr algn="ctr"/>
                      <a:r>
                        <a:rPr sz="1200" b="0" i="0">
                          <a:solidFill>
                            <a:srgbClr val="0A101F"/>
                          </a:solidFill>
                          <a:latin typeface="Calibri"/>
                        </a:rPr>
                        <a:t>MS Excel 2021, IBM SPSS 26, Google Forms</a:t>
                      </a:r>
                    </a:p>
                  </a:txBody>
                  <a:tcPr anchor="ctr">
                    <a:solidFill>
                      <a:srgbClr val="FFFFFF"/>
                    </a:solidFill>
                  </a:tcPr>
                </a:tc>
                <a:extLst>
                  <a:ext uri="{0D108BD9-81ED-4DB2-BD59-A6C34878D82A}">
                    <a16:rowId xmlns:a16="http://schemas.microsoft.com/office/drawing/2014/main" val="10006"/>
                  </a:ext>
                </a:extLst>
              </a:tr>
            </a:tbl>
          </a:graphicData>
        </a:graphic>
      </p:graphicFrame>
      <p:pic>
        <p:nvPicPr>
          <p:cNvPr id="9" name="Picture 8" descr="data_analytics.jpg"/>
          <p:cNvPicPr>
            <a:picLocks noChangeAspect="1"/>
          </p:cNvPicPr>
          <p:nvPr/>
        </p:nvPicPr>
        <p:blipFill>
          <a:blip r:embed="rId3"/>
          <a:stretch>
            <a:fillRect/>
          </a:stretch>
        </p:blipFill>
        <p:spPr>
          <a:xfrm>
            <a:off x="411480" y="5074920"/>
            <a:ext cx="7315200" cy="1280160"/>
          </a:xfrm>
          <a:effectLst>
            <a:outerShdw blurRad="228600" dist="76200" dir="2700000" algn="tl" rotWithShape="0">
              <a:srgbClr val="000000">
                <a:alpha val="40000"/>
              </a:srgbClr>
            </a:outerShdw>
          </a:effectLst>
        </p:spPr>
      </p:pic>
      <p:sp>
        <p:nvSpPr>
          <p:cNvPr id="10" name="Rounded Rectangle 9"/>
          <p:cNvSpPr/>
          <p:nvPr/>
        </p:nvSpPr>
        <p:spPr>
          <a:xfrm>
            <a:off x="7955279" y="1371600"/>
            <a:ext cx="3840480" cy="4983480"/>
          </a:xfrm>
          <a:prstGeom prst="roundRect">
            <a:avLst>
              <a:gd name="adj" fmla="val 5000"/>
            </a:avLst>
          </a:prstGeom>
          <a:gradFill flip="none" rotWithShape="1">
            <a:gsLst>
              <a:gs pos="0">
                <a:srgbClr val="22A06B"/>
              </a:gs>
              <a:gs pos="100000">
                <a:srgbClr val="12B79E"/>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29599" y="1600200"/>
            <a:ext cx="3291840" cy="411480"/>
          </a:xfrm>
          <a:prstGeom prst="rect">
            <a:avLst/>
          </a:prstGeom>
          <a:noFill/>
        </p:spPr>
        <p:txBody>
          <a:bodyPr wrap="square" lIns="36576" tIns="18288" rIns="36576" bIns="18288">
            <a:spAutoFit/>
          </a:bodyPr>
          <a:lstStyle/>
          <a:p>
            <a:pPr>
              <a:spcAft>
                <a:spcPts val="400"/>
              </a:spcAft>
            </a:pPr>
            <a:r>
              <a:rPr sz="1500" b="1" i="0">
                <a:solidFill>
                  <a:srgbClr val="FFFFFF"/>
                </a:solidFill>
                <a:latin typeface="Calibri"/>
              </a:rPr>
              <a:t>Reliability Score</a:t>
            </a:r>
          </a:p>
        </p:txBody>
      </p:sp>
      <p:sp>
        <p:nvSpPr>
          <p:cNvPr id="12" name="TextBox 11"/>
          <p:cNvSpPr txBox="1"/>
          <p:nvPr/>
        </p:nvSpPr>
        <p:spPr>
          <a:xfrm>
            <a:off x="8229599" y="2240280"/>
            <a:ext cx="3291840" cy="3886200"/>
          </a:xfrm>
          <a:prstGeom prst="rect">
            <a:avLst/>
          </a:prstGeom>
          <a:noFill/>
        </p:spPr>
        <p:txBody>
          <a:bodyPr wrap="square" lIns="36576" tIns="18288" rIns="36576" bIns="18288">
            <a:spAutoFit/>
          </a:bodyPr>
          <a:lstStyle/>
          <a:p>
            <a:pPr algn="ctr">
              <a:spcAft>
                <a:spcPts val="600"/>
              </a:spcAft>
            </a:pPr>
            <a:r>
              <a:rPr sz="1300" b="0" i="0">
                <a:solidFill>
                  <a:srgbClr val="9EE54D"/>
                </a:solidFill>
                <a:latin typeface="Calibri"/>
              </a:rPr>
              <a:t>Cronbach's Alpha</a:t>
            </a:r>
          </a:p>
          <a:p>
            <a:pPr algn="ctr">
              <a:spcAft>
                <a:spcPts val="400"/>
              </a:spcAft>
            </a:pPr>
            <a:r>
              <a:rPr sz="7800" b="1" i="0">
                <a:solidFill>
                  <a:srgbClr val="FFFFFF"/>
                </a:solidFill>
                <a:latin typeface="Calibri"/>
              </a:rPr>
              <a:t>0.83</a:t>
            </a:r>
          </a:p>
          <a:p>
            <a:pPr algn="ctr">
              <a:spcAft>
                <a:spcPts val="1400"/>
              </a:spcAft>
            </a:pPr>
            <a:r>
              <a:rPr sz="1400" b="1" i="0">
                <a:solidFill>
                  <a:srgbClr val="9EE54D"/>
                </a:solidFill>
                <a:latin typeface="Calibri"/>
              </a:rPr>
              <a:t>GOOD</a:t>
            </a:r>
          </a:p>
          <a:p>
            <a:pPr algn="ctr">
              <a:spcAft>
                <a:spcPts val="1200"/>
              </a:spcAft>
            </a:pPr>
            <a:r>
              <a:rPr sz="1100" b="0" i="1">
                <a:solidFill>
                  <a:srgbClr val="E7EEFB"/>
                </a:solidFill>
                <a:latin typeface="Calibri"/>
              </a:rPr>
              <a:t>Exceeds the 0.70 threshold (Nunnally, 1978).</a:t>
            </a:r>
          </a:p>
          <a:p>
            <a:pPr algn="ctr">
              <a:spcAft>
                <a:spcPts val="400"/>
              </a:spcAft>
            </a:pPr>
            <a:r>
              <a:rPr sz="1000" b="0" i="0">
                <a:solidFill>
                  <a:srgbClr val="E7EEFB"/>
                </a:solidFill>
                <a:latin typeface="Calibri"/>
              </a:rPr>
              <a:t>n = 30 items  -  full instrument  -  pilot tested</a:t>
            </a:r>
          </a:p>
        </p:txBody>
      </p:sp>
      <p:sp>
        <p:nvSpPr>
          <p:cNvPr id="13" name="Rectangle 12"/>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Sample Demographics  -  n = 150</a:t>
            </a:r>
          </a:p>
        </p:txBody>
      </p:sp>
      <p:sp>
        <p:nvSpPr>
          <p:cNvPr id="7" name="TextBox 6"/>
          <p:cNvSpPr txBox="1"/>
          <p:nvPr/>
        </p:nvSpPr>
        <p:spPr>
          <a:xfrm>
            <a:off x="548640" y="868680"/>
            <a:ext cx="10972800" cy="365760"/>
          </a:xfrm>
          <a:prstGeom prst="rect">
            <a:avLst/>
          </a:prstGeom>
          <a:noFill/>
        </p:spPr>
        <p:txBody>
          <a:bodyPr wrap="square" lIns="36576" tIns="18288" rIns="36576" bIns="18288">
            <a:spAutoFit/>
          </a:bodyPr>
          <a:lstStyle/>
          <a:p>
            <a:pPr>
              <a:spcAft>
                <a:spcPts val="400"/>
              </a:spcAft>
            </a:pPr>
            <a:r>
              <a:rPr sz="1300" b="0" i="1">
                <a:solidFill>
                  <a:srgbClr val="5A6478"/>
                </a:solidFill>
                <a:latin typeface="Calibri"/>
              </a:rPr>
              <a:t>Four lenses on who took the survey  -  gender, age, geography, education.</a:t>
            </a:r>
          </a:p>
        </p:txBody>
      </p:sp>
      <p:sp>
        <p:nvSpPr>
          <p:cNvPr id="8" name="Rounded Rectangle 7"/>
          <p:cNvSpPr/>
          <p:nvPr/>
        </p:nvSpPr>
        <p:spPr>
          <a:xfrm>
            <a:off x="411480" y="1371600"/>
            <a:ext cx="5669280" cy="260604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57200" y="1417320"/>
            <a:ext cx="54864" cy="365760"/>
          </a:xfrm>
          <a:prstGeom prst="rect">
            <a:avLst/>
          </a:prstGeom>
          <a:solidFill>
            <a:srgbClr val="22A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1463040"/>
            <a:ext cx="5303520" cy="365760"/>
          </a:xfrm>
          <a:prstGeom prst="rect">
            <a:avLst/>
          </a:prstGeom>
          <a:noFill/>
        </p:spPr>
        <p:txBody>
          <a:bodyPr wrap="square" lIns="36576" tIns="18288" rIns="36576" bIns="18288">
            <a:spAutoFit/>
          </a:bodyPr>
          <a:lstStyle/>
          <a:p>
            <a:pPr>
              <a:spcAft>
                <a:spcPts val="400"/>
              </a:spcAft>
            </a:pPr>
            <a:r>
              <a:rPr sz="1400" b="1" i="0">
                <a:solidFill>
                  <a:srgbClr val="0A1F44"/>
                </a:solidFill>
                <a:latin typeface="Calibri"/>
              </a:rPr>
              <a:t>Gender</a:t>
            </a:r>
          </a:p>
        </p:txBody>
      </p:sp>
      <p:graphicFrame>
        <p:nvGraphicFramePr>
          <p:cNvPr id="11" name="Chart 10"/>
          <p:cNvGraphicFramePr>
            <a:graphicFrameLocks noGrp="1"/>
          </p:cNvGraphicFramePr>
          <p:nvPr/>
        </p:nvGraphicFramePr>
        <p:xfrm>
          <a:off x="594360" y="1828800"/>
          <a:ext cx="2468880" cy="219456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p:cNvSpPr txBox="1"/>
          <p:nvPr/>
        </p:nvSpPr>
        <p:spPr>
          <a:xfrm>
            <a:off x="3246120" y="1828800"/>
            <a:ext cx="2834640" cy="2194560"/>
          </a:xfrm>
          <a:prstGeom prst="rect">
            <a:avLst/>
          </a:prstGeom>
          <a:noFill/>
        </p:spPr>
        <p:txBody>
          <a:bodyPr wrap="square" lIns="36576" tIns="18288" rIns="36576" bIns="18288">
            <a:spAutoFit/>
          </a:bodyPr>
          <a:lstStyle/>
          <a:p>
            <a:pPr>
              <a:spcAft>
                <a:spcPts val="600"/>
              </a:spcAft>
            </a:pPr>
            <a:r>
              <a:rPr sz="1200" b="0" i="0">
                <a:solidFill>
                  <a:srgbClr val="0A101F"/>
                </a:solidFill>
                <a:latin typeface="Calibri"/>
              </a:rPr>
              <a:t>•  Male: 52.0%</a:t>
            </a:r>
          </a:p>
          <a:p>
            <a:pPr>
              <a:spcAft>
                <a:spcPts val="600"/>
              </a:spcAft>
            </a:pPr>
            <a:r>
              <a:rPr sz="1200" b="0" i="0">
                <a:solidFill>
                  <a:srgbClr val="0A101F"/>
                </a:solidFill>
                <a:latin typeface="Calibri"/>
              </a:rPr>
              <a:t>•  Female: 44.0%</a:t>
            </a:r>
          </a:p>
          <a:p>
            <a:pPr>
              <a:spcAft>
                <a:spcPts val="600"/>
              </a:spcAft>
            </a:pPr>
            <a:r>
              <a:rPr sz="1200" b="0" i="0">
                <a:solidFill>
                  <a:srgbClr val="0A101F"/>
                </a:solidFill>
                <a:latin typeface="Calibri"/>
              </a:rPr>
              <a:t>•  Other: 4.0%</a:t>
            </a:r>
          </a:p>
        </p:txBody>
      </p:sp>
      <p:sp>
        <p:nvSpPr>
          <p:cNvPr id="13" name="Rounded Rectangle 12"/>
          <p:cNvSpPr/>
          <p:nvPr/>
        </p:nvSpPr>
        <p:spPr>
          <a:xfrm>
            <a:off x="6126480" y="1371600"/>
            <a:ext cx="5669280" cy="260604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172200" y="1417320"/>
            <a:ext cx="54864" cy="365760"/>
          </a:xfrm>
          <a:prstGeom prst="rect">
            <a:avLst/>
          </a:prstGeom>
          <a:solidFill>
            <a:srgbClr val="22A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09360" y="1463040"/>
            <a:ext cx="5303520" cy="365760"/>
          </a:xfrm>
          <a:prstGeom prst="rect">
            <a:avLst/>
          </a:prstGeom>
          <a:noFill/>
        </p:spPr>
        <p:txBody>
          <a:bodyPr wrap="square" lIns="36576" tIns="18288" rIns="36576" bIns="18288">
            <a:spAutoFit/>
          </a:bodyPr>
          <a:lstStyle/>
          <a:p>
            <a:pPr>
              <a:spcAft>
                <a:spcPts val="400"/>
              </a:spcAft>
            </a:pPr>
            <a:r>
              <a:rPr sz="1400" b="1" i="0">
                <a:solidFill>
                  <a:srgbClr val="0A1F44"/>
                </a:solidFill>
                <a:latin typeface="Calibri"/>
              </a:rPr>
              <a:t>Age Group</a:t>
            </a:r>
          </a:p>
        </p:txBody>
      </p:sp>
      <p:graphicFrame>
        <p:nvGraphicFramePr>
          <p:cNvPr id="16" name="Chart 15"/>
          <p:cNvGraphicFramePr>
            <a:graphicFrameLocks noGrp="1"/>
          </p:cNvGraphicFramePr>
          <p:nvPr/>
        </p:nvGraphicFramePr>
        <p:xfrm>
          <a:off x="6309360" y="1828800"/>
          <a:ext cx="2468880" cy="219456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Box 16"/>
          <p:cNvSpPr txBox="1"/>
          <p:nvPr/>
        </p:nvSpPr>
        <p:spPr>
          <a:xfrm>
            <a:off x="8961120" y="1828800"/>
            <a:ext cx="2834640" cy="2194560"/>
          </a:xfrm>
          <a:prstGeom prst="rect">
            <a:avLst/>
          </a:prstGeom>
          <a:noFill/>
        </p:spPr>
        <p:txBody>
          <a:bodyPr wrap="square" lIns="36576" tIns="18288" rIns="36576" bIns="18288">
            <a:spAutoFit/>
          </a:bodyPr>
          <a:lstStyle/>
          <a:p>
            <a:pPr>
              <a:spcAft>
                <a:spcPts val="600"/>
              </a:spcAft>
            </a:pPr>
            <a:r>
              <a:rPr sz="1200" b="0" i="0">
                <a:solidFill>
                  <a:srgbClr val="0A101F"/>
                </a:solidFill>
                <a:latin typeface="Calibri"/>
              </a:rPr>
              <a:t>•  64% under 36 - YONO core</a:t>
            </a:r>
          </a:p>
          <a:p>
            <a:pPr>
              <a:spcAft>
                <a:spcPts val="600"/>
              </a:spcAft>
            </a:pPr>
            <a:r>
              <a:rPr sz="1200" b="0" i="0">
                <a:solidFill>
                  <a:srgbClr val="0A101F"/>
                </a:solidFill>
                <a:latin typeface="Calibri"/>
              </a:rPr>
              <a:t>•  5.3% are 60+</a:t>
            </a:r>
          </a:p>
          <a:p>
            <a:pPr>
              <a:spcAft>
                <a:spcPts val="600"/>
              </a:spcAft>
            </a:pPr>
            <a:r>
              <a:rPr sz="1200" b="0" i="0">
                <a:solidFill>
                  <a:srgbClr val="0A101F"/>
                </a:solidFill>
                <a:latin typeface="Calibri"/>
              </a:rPr>
              <a:t>•  Mode: 26-35</a:t>
            </a:r>
          </a:p>
        </p:txBody>
      </p:sp>
      <p:sp>
        <p:nvSpPr>
          <p:cNvPr id="18" name="Rounded Rectangle 17"/>
          <p:cNvSpPr/>
          <p:nvPr/>
        </p:nvSpPr>
        <p:spPr>
          <a:xfrm>
            <a:off x="411480" y="4114800"/>
            <a:ext cx="5669280" cy="260604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457200" y="4160520"/>
            <a:ext cx="54864" cy="365760"/>
          </a:xfrm>
          <a:prstGeom prst="rect">
            <a:avLst/>
          </a:prstGeom>
          <a:solidFill>
            <a:srgbClr val="22A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4206240"/>
            <a:ext cx="5303520" cy="365760"/>
          </a:xfrm>
          <a:prstGeom prst="rect">
            <a:avLst/>
          </a:prstGeom>
          <a:noFill/>
        </p:spPr>
        <p:txBody>
          <a:bodyPr wrap="square" lIns="36576" tIns="18288" rIns="36576" bIns="18288">
            <a:spAutoFit/>
          </a:bodyPr>
          <a:lstStyle/>
          <a:p>
            <a:pPr>
              <a:spcAft>
                <a:spcPts val="400"/>
              </a:spcAft>
            </a:pPr>
            <a:r>
              <a:rPr sz="1400" b="1" i="0">
                <a:solidFill>
                  <a:srgbClr val="0A1F44"/>
                </a:solidFill>
                <a:latin typeface="Calibri"/>
              </a:rPr>
              <a:t>Geography</a:t>
            </a:r>
          </a:p>
        </p:txBody>
      </p:sp>
      <p:graphicFrame>
        <p:nvGraphicFramePr>
          <p:cNvPr id="21" name="Chart 20"/>
          <p:cNvGraphicFramePr>
            <a:graphicFrameLocks noGrp="1"/>
          </p:cNvGraphicFramePr>
          <p:nvPr/>
        </p:nvGraphicFramePr>
        <p:xfrm>
          <a:off x="594360" y="4572000"/>
          <a:ext cx="2468880" cy="2194560"/>
        </p:xfrm>
        <a:graphic>
          <a:graphicData uri="http://schemas.openxmlformats.org/drawingml/2006/chart">
            <c:chart xmlns:c="http://schemas.openxmlformats.org/drawingml/2006/chart" xmlns:r="http://schemas.openxmlformats.org/officeDocument/2006/relationships" r:id="rId5"/>
          </a:graphicData>
        </a:graphic>
      </p:graphicFrame>
      <p:sp>
        <p:nvSpPr>
          <p:cNvPr id="22" name="TextBox 21"/>
          <p:cNvSpPr txBox="1"/>
          <p:nvPr/>
        </p:nvSpPr>
        <p:spPr>
          <a:xfrm>
            <a:off x="3246120" y="4572000"/>
            <a:ext cx="2834640" cy="2194560"/>
          </a:xfrm>
          <a:prstGeom prst="rect">
            <a:avLst/>
          </a:prstGeom>
          <a:noFill/>
        </p:spPr>
        <p:txBody>
          <a:bodyPr wrap="square" lIns="36576" tIns="18288" rIns="36576" bIns="18288">
            <a:spAutoFit/>
          </a:bodyPr>
          <a:lstStyle/>
          <a:p>
            <a:pPr>
              <a:spcAft>
                <a:spcPts val="600"/>
              </a:spcAft>
            </a:pPr>
            <a:r>
              <a:rPr sz="1200" b="0" i="0">
                <a:solidFill>
                  <a:srgbClr val="0A101F"/>
                </a:solidFill>
                <a:latin typeface="Calibri"/>
              </a:rPr>
              <a:t>•  Urban: 50.7%</a:t>
            </a:r>
          </a:p>
          <a:p>
            <a:pPr>
              <a:spcAft>
                <a:spcPts val="600"/>
              </a:spcAft>
            </a:pPr>
            <a:r>
              <a:rPr sz="1200" b="0" i="0">
                <a:solidFill>
                  <a:srgbClr val="0A101F"/>
                </a:solidFill>
                <a:latin typeface="Calibri"/>
              </a:rPr>
              <a:t>•  Semi-urban: 31.3%</a:t>
            </a:r>
          </a:p>
          <a:p>
            <a:pPr>
              <a:spcAft>
                <a:spcPts val="600"/>
              </a:spcAft>
            </a:pPr>
            <a:r>
              <a:rPr sz="1200" b="0" i="0">
                <a:solidFill>
                  <a:srgbClr val="0A101F"/>
                </a:solidFill>
                <a:latin typeface="Calibri"/>
              </a:rPr>
              <a:t>•  Rural: 18.0%</a:t>
            </a:r>
          </a:p>
        </p:txBody>
      </p:sp>
      <p:sp>
        <p:nvSpPr>
          <p:cNvPr id="23" name="Rounded Rectangle 22"/>
          <p:cNvSpPr/>
          <p:nvPr/>
        </p:nvSpPr>
        <p:spPr>
          <a:xfrm>
            <a:off x="6126480" y="4114800"/>
            <a:ext cx="5669280" cy="260604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172200" y="4160520"/>
            <a:ext cx="54864" cy="365760"/>
          </a:xfrm>
          <a:prstGeom prst="rect">
            <a:avLst/>
          </a:prstGeom>
          <a:solidFill>
            <a:srgbClr val="22A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309360" y="4206240"/>
            <a:ext cx="5303520" cy="365760"/>
          </a:xfrm>
          <a:prstGeom prst="rect">
            <a:avLst/>
          </a:prstGeom>
          <a:noFill/>
        </p:spPr>
        <p:txBody>
          <a:bodyPr wrap="square" lIns="36576" tIns="18288" rIns="36576" bIns="18288">
            <a:spAutoFit/>
          </a:bodyPr>
          <a:lstStyle/>
          <a:p>
            <a:pPr>
              <a:spcAft>
                <a:spcPts val="400"/>
              </a:spcAft>
            </a:pPr>
            <a:r>
              <a:rPr sz="1400" b="1" i="0">
                <a:solidFill>
                  <a:srgbClr val="0A1F44"/>
                </a:solidFill>
                <a:latin typeface="Calibri"/>
              </a:rPr>
              <a:t>Education</a:t>
            </a:r>
          </a:p>
        </p:txBody>
      </p:sp>
      <p:graphicFrame>
        <p:nvGraphicFramePr>
          <p:cNvPr id="26" name="Chart 25"/>
          <p:cNvGraphicFramePr>
            <a:graphicFrameLocks noGrp="1"/>
          </p:cNvGraphicFramePr>
          <p:nvPr/>
        </p:nvGraphicFramePr>
        <p:xfrm>
          <a:off x="6309360" y="4572000"/>
          <a:ext cx="2468880" cy="2194560"/>
        </p:xfrm>
        <a:graphic>
          <a:graphicData uri="http://schemas.openxmlformats.org/drawingml/2006/chart">
            <c:chart xmlns:c="http://schemas.openxmlformats.org/drawingml/2006/chart" xmlns:r="http://schemas.openxmlformats.org/officeDocument/2006/relationships" r:id="rId6"/>
          </a:graphicData>
        </a:graphic>
      </p:graphicFrame>
      <p:sp>
        <p:nvSpPr>
          <p:cNvPr id="27" name="TextBox 26"/>
          <p:cNvSpPr txBox="1"/>
          <p:nvPr/>
        </p:nvSpPr>
        <p:spPr>
          <a:xfrm>
            <a:off x="8961120" y="4572000"/>
            <a:ext cx="2834640" cy="2194560"/>
          </a:xfrm>
          <a:prstGeom prst="rect">
            <a:avLst/>
          </a:prstGeom>
          <a:noFill/>
        </p:spPr>
        <p:txBody>
          <a:bodyPr wrap="square" lIns="36576" tIns="18288" rIns="36576" bIns="18288">
            <a:spAutoFit/>
          </a:bodyPr>
          <a:lstStyle/>
          <a:p>
            <a:pPr>
              <a:spcAft>
                <a:spcPts val="600"/>
              </a:spcAft>
            </a:pPr>
            <a:r>
              <a:rPr sz="1200" b="0" i="0">
                <a:solidFill>
                  <a:srgbClr val="0A101F"/>
                </a:solidFill>
                <a:latin typeface="Calibri"/>
              </a:rPr>
              <a:t>•  Graduate: 38.7%</a:t>
            </a:r>
          </a:p>
          <a:p>
            <a:pPr>
              <a:spcAft>
                <a:spcPts val="600"/>
              </a:spcAft>
            </a:pPr>
            <a:r>
              <a:rPr sz="1200" b="0" i="0">
                <a:solidFill>
                  <a:srgbClr val="0A101F"/>
                </a:solidFill>
                <a:latin typeface="Calibri"/>
              </a:rPr>
              <a:t>•  Post-Grad: 30.7%</a:t>
            </a:r>
          </a:p>
          <a:p>
            <a:pPr>
              <a:spcAft>
                <a:spcPts val="600"/>
              </a:spcAft>
            </a:pPr>
            <a:r>
              <a:rPr sz="1200" b="0" i="0">
                <a:solidFill>
                  <a:srgbClr val="0A101F"/>
                </a:solidFill>
                <a:latin typeface="Calibri"/>
              </a:rPr>
              <a:t>•  85.3% are graduates+</a:t>
            </a:r>
          </a:p>
        </p:txBody>
      </p:sp>
      <p:sp>
        <p:nvSpPr>
          <p:cNvPr id="28" name="Rectangle 27"/>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High Awareness, Habitual Use, but a Super-App Gap</a:t>
            </a:r>
          </a:p>
        </p:txBody>
      </p:sp>
      <p:sp>
        <p:nvSpPr>
          <p:cNvPr id="7" name="Rounded Rectangle 6"/>
          <p:cNvSpPr/>
          <p:nvPr/>
        </p:nvSpPr>
        <p:spPr>
          <a:xfrm>
            <a:off x="411480" y="868680"/>
            <a:ext cx="3794760" cy="507492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 y="1051560"/>
            <a:ext cx="3337560" cy="411480"/>
          </a:xfrm>
          <a:prstGeom prst="rect">
            <a:avLst/>
          </a:prstGeom>
          <a:noFill/>
        </p:spPr>
        <p:txBody>
          <a:bodyPr wrap="square" lIns="36576" tIns="18288" rIns="36576" bIns="18288">
            <a:spAutoFit/>
          </a:bodyPr>
          <a:lstStyle/>
          <a:p>
            <a:pPr>
              <a:spcAft>
                <a:spcPts val="400"/>
              </a:spcAft>
            </a:pPr>
            <a:r>
              <a:rPr sz="1400" b="1" i="0">
                <a:solidFill>
                  <a:srgbClr val="0A1F44"/>
                </a:solidFill>
                <a:latin typeface="Calibri"/>
              </a:rPr>
              <a:t>Awareness</a:t>
            </a:r>
          </a:p>
        </p:txBody>
      </p:sp>
      <p:graphicFrame>
        <p:nvGraphicFramePr>
          <p:cNvPr id="9" name="Chart 8"/>
          <p:cNvGraphicFramePr>
            <a:graphicFrameLocks noGrp="1"/>
          </p:cNvGraphicFramePr>
          <p:nvPr/>
        </p:nvGraphicFramePr>
        <p:xfrm>
          <a:off x="685800" y="1508760"/>
          <a:ext cx="324612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ed Rectangle 9"/>
          <p:cNvSpPr/>
          <p:nvPr/>
        </p:nvSpPr>
        <p:spPr>
          <a:xfrm>
            <a:off x="685800" y="4572000"/>
            <a:ext cx="3246120" cy="1143000"/>
          </a:xfrm>
          <a:prstGeom prst="roundRect">
            <a:avLst>
              <a:gd name="adj" fmla="val 5000"/>
            </a:avLst>
          </a:prstGeom>
          <a:gradFill flip="none" rotWithShape="1">
            <a:gsLst>
              <a:gs pos="0">
                <a:srgbClr val="0A1F44"/>
              </a:gs>
              <a:gs pos="100000">
                <a:srgbClr val="1E4FB5"/>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4709160"/>
            <a:ext cx="3246120" cy="777240"/>
          </a:xfrm>
          <a:prstGeom prst="rect">
            <a:avLst/>
          </a:prstGeom>
          <a:noFill/>
        </p:spPr>
        <p:txBody>
          <a:bodyPr wrap="square" lIns="36576" tIns="18288" rIns="36576" bIns="18288">
            <a:spAutoFit/>
          </a:bodyPr>
          <a:lstStyle/>
          <a:p>
            <a:pPr algn="ctr">
              <a:spcAft>
                <a:spcPts val="400"/>
              </a:spcAft>
            </a:pPr>
            <a:r>
              <a:rPr sz="3600" b="1" i="0">
                <a:solidFill>
                  <a:srgbClr val="00C8FF"/>
                </a:solidFill>
                <a:latin typeface="Calibri"/>
              </a:rPr>
              <a:t>74.7%</a:t>
            </a:r>
          </a:p>
        </p:txBody>
      </p:sp>
      <p:sp>
        <p:nvSpPr>
          <p:cNvPr id="12" name="TextBox 11"/>
          <p:cNvSpPr txBox="1"/>
          <p:nvPr/>
        </p:nvSpPr>
        <p:spPr>
          <a:xfrm>
            <a:off x="685800" y="5440680"/>
            <a:ext cx="324612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Aware or Very Aware</a:t>
            </a:r>
          </a:p>
        </p:txBody>
      </p:sp>
      <p:sp>
        <p:nvSpPr>
          <p:cNvPr id="13" name="Rounded Rectangle 12"/>
          <p:cNvSpPr/>
          <p:nvPr/>
        </p:nvSpPr>
        <p:spPr>
          <a:xfrm>
            <a:off x="4389120" y="868680"/>
            <a:ext cx="3794760" cy="507492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617720" y="1051560"/>
            <a:ext cx="3337560" cy="411480"/>
          </a:xfrm>
          <a:prstGeom prst="rect">
            <a:avLst/>
          </a:prstGeom>
          <a:noFill/>
        </p:spPr>
        <p:txBody>
          <a:bodyPr wrap="square" lIns="36576" tIns="18288" rIns="36576" bIns="18288">
            <a:spAutoFit/>
          </a:bodyPr>
          <a:lstStyle/>
          <a:p>
            <a:pPr>
              <a:spcAft>
                <a:spcPts val="400"/>
              </a:spcAft>
            </a:pPr>
            <a:r>
              <a:rPr sz="1400" b="1" i="0">
                <a:solidFill>
                  <a:srgbClr val="0A1F44"/>
                </a:solidFill>
                <a:latin typeface="Calibri"/>
              </a:rPr>
              <a:t>Usage Frequency</a:t>
            </a:r>
          </a:p>
        </p:txBody>
      </p:sp>
      <p:graphicFrame>
        <p:nvGraphicFramePr>
          <p:cNvPr id="15" name="Chart 14"/>
          <p:cNvGraphicFramePr>
            <a:graphicFrameLocks noGrp="1"/>
          </p:cNvGraphicFramePr>
          <p:nvPr/>
        </p:nvGraphicFramePr>
        <p:xfrm>
          <a:off x="4572000" y="1508760"/>
          <a:ext cx="342900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16" name="Rounded Rectangle 15"/>
          <p:cNvSpPr/>
          <p:nvPr/>
        </p:nvSpPr>
        <p:spPr>
          <a:xfrm>
            <a:off x="4663440" y="4572000"/>
            <a:ext cx="3246120" cy="1143000"/>
          </a:xfrm>
          <a:prstGeom prst="roundRect">
            <a:avLst>
              <a:gd name="adj" fmla="val 5000"/>
            </a:avLst>
          </a:prstGeom>
          <a:gradFill flip="none" rotWithShape="1">
            <a:gsLst>
              <a:gs pos="0">
                <a:srgbClr val="22A06B"/>
              </a:gs>
              <a:gs pos="100000">
                <a:srgbClr val="12B79E"/>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663440" y="4709160"/>
            <a:ext cx="3246120" cy="777240"/>
          </a:xfrm>
          <a:prstGeom prst="rect">
            <a:avLst/>
          </a:prstGeom>
          <a:noFill/>
        </p:spPr>
        <p:txBody>
          <a:bodyPr wrap="square" lIns="36576" tIns="18288" rIns="36576" bIns="18288">
            <a:spAutoFit/>
          </a:bodyPr>
          <a:lstStyle/>
          <a:p>
            <a:pPr algn="ctr">
              <a:spcAft>
                <a:spcPts val="400"/>
              </a:spcAft>
            </a:pPr>
            <a:r>
              <a:rPr sz="3600" b="1" i="0">
                <a:solidFill>
                  <a:srgbClr val="9EE54D"/>
                </a:solidFill>
                <a:latin typeface="Calibri"/>
              </a:rPr>
              <a:t>62%</a:t>
            </a:r>
          </a:p>
        </p:txBody>
      </p:sp>
      <p:sp>
        <p:nvSpPr>
          <p:cNvPr id="18" name="TextBox 17"/>
          <p:cNvSpPr txBox="1"/>
          <p:nvPr/>
        </p:nvSpPr>
        <p:spPr>
          <a:xfrm>
            <a:off x="4663440" y="5440680"/>
            <a:ext cx="324612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Use YONO Weekly</a:t>
            </a:r>
          </a:p>
        </p:txBody>
      </p:sp>
      <p:sp>
        <p:nvSpPr>
          <p:cNvPr id="19" name="Rounded Rectangle 18"/>
          <p:cNvSpPr/>
          <p:nvPr/>
        </p:nvSpPr>
        <p:spPr>
          <a:xfrm>
            <a:off x="8366760" y="868680"/>
            <a:ext cx="3794760" cy="507492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95360" y="1051560"/>
            <a:ext cx="3337560" cy="411480"/>
          </a:xfrm>
          <a:prstGeom prst="rect">
            <a:avLst/>
          </a:prstGeom>
          <a:noFill/>
        </p:spPr>
        <p:txBody>
          <a:bodyPr wrap="square" lIns="36576" tIns="18288" rIns="36576" bIns="18288">
            <a:spAutoFit/>
          </a:bodyPr>
          <a:lstStyle/>
          <a:p>
            <a:pPr>
              <a:spcAft>
                <a:spcPts val="400"/>
              </a:spcAft>
            </a:pPr>
            <a:r>
              <a:rPr sz="1400" b="1" i="0">
                <a:solidFill>
                  <a:srgbClr val="0A1F44"/>
                </a:solidFill>
                <a:latin typeface="Calibri"/>
              </a:rPr>
              <a:t>Top Features Used</a:t>
            </a:r>
          </a:p>
        </p:txBody>
      </p:sp>
      <p:graphicFrame>
        <p:nvGraphicFramePr>
          <p:cNvPr id="21" name="Chart 20"/>
          <p:cNvGraphicFramePr>
            <a:graphicFrameLocks noGrp="1"/>
          </p:cNvGraphicFramePr>
          <p:nvPr/>
        </p:nvGraphicFramePr>
        <p:xfrm>
          <a:off x="8549640" y="1508760"/>
          <a:ext cx="3429000" cy="4160520"/>
        </p:xfrm>
        <a:graphic>
          <a:graphicData uri="http://schemas.openxmlformats.org/drawingml/2006/chart">
            <c:chart xmlns:c="http://schemas.openxmlformats.org/drawingml/2006/chart" xmlns:r="http://schemas.openxmlformats.org/officeDocument/2006/relationships" r:id="rId5"/>
          </a:graphicData>
        </a:graphic>
      </p:graphicFrame>
      <p:sp>
        <p:nvSpPr>
          <p:cNvPr id="22" name="Rounded Rectangle 21"/>
          <p:cNvSpPr/>
          <p:nvPr/>
        </p:nvSpPr>
        <p:spPr>
          <a:xfrm>
            <a:off x="411480" y="6035040"/>
            <a:ext cx="11384280" cy="411480"/>
          </a:xfrm>
          <a:prstGeom prst="roundRect">
            <a:avLst>
              <a:gd name="adj" fmla="val 5000"/>
            </a:avLst>
          </a:prstGeom>
          <a:gradFill flip="none" rotWithShape="1">
            <a:gsLst>
              <a:gs pos="0">
                <a:srgbClr val="0A1F44"/>
              </a:gs>
              <a:gs pos="100000">
                <a:srgbClr val="2E5BFF"/>
              </a:gs>
            </a:gsLst>
            <a:lin ang="0" scaled="1"/>
          </a:gradFill>
          <a:ln>
            <a:noFill/>
          </a:ln>
          <a:effectLst>
            <a:glow rad="101600">
              <a:srgbClr val="00C8FF">
                <a:alpha val="40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48640" y="6080760"/>
            <a:ext cx="11109960" cy="365760"/>
          </a:xfrm>
          <a:prstGeom prst="rect">
            <a:avLst/>
          </a:prstGeom>
          <a:noFill/>
        </p:spPr>
        <p:txBody>
          <a:bodyPr wrap="square" lIns="36576" tIns="18288" rIns="36576" bIns="18288">
            <a:spAutoFit/>
          </a:bodyPr>
          <a:lstStyle/>
          <a:p>
            <a:pPr algn="ctr">
              <a:spcAft>
                <a:spcPts val="400"/>
              </a:spcAft>
            </a:pPr>
            <a:r>
              <a:rPr sz="1200" b="1" i="0">
                <a:solidFill>
                  <a:srgbClr val="FFFFFF"/>
                </a:solidFill>
                <a:latin typeface="Calibri"/>
              </a:rPr>
              <a:t>INSIGHT  -  Super-app vision intact, but lifestyle, investments, and Krishi remain under-discovered (not under-built).</a:t>
            </a:r>
          </a:p>
        </p:txBody>
      </p:sp>
      <p:sp>
        <p:nvSpPr>
          <p:cNvPr id="24" name="Rectangle 23"/>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Users Find YONO Useful  -  Composite Mean = 3.95 / 5</a:t>
            </a:r>
          </a:p>
        </p:txBody>
      </p:sp>
      <p:sp>
        <p:nvSpPr>
          <p:cNvPr id="7" name="Rounded Rectangle 6"/>
          <p:cNvSpPr/>
          <p:nvPr/>
        </p:nvSpPr>
        <p:spPr>
          <a:xfrm>
            <a:off x="411480" y="914400"/>
            <a:ext cx="7772400" cy="544068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Chart 7"/>
          <p:cNvGraphicFramePr>
            <a:graphicFrameLocks noGrp="1"/>
          </p:cNvGraphicFramePr>
          <p:nvPr/>
        </p:nvGraphicFramePr>
        <p:xfrm>
          <a:off x="640080" y="1143000"/>
          <a:ext cx="7315200" cy="4983480"/>
        </p:xfrm>
        <a:graphic>
          <a:graphicData uri="http://schemas.openxmlformats.org/drawingml/2006/chart">
            <c:chart xmlns:c="http://schemas.openxmlformats.org/drawingml/2006/chart" xmlns:r="http://schemas.openxmlformats.org/officeDocument/2006/relationships" r:id="rId3"/>
          </a:graphicData>
        </a:graphic>
      </p:graphicFrame>
      <p:sp>
        <p:nvSpPr>
          <p:cNvPr id="9" name="Rounded Rectangle 8"/>
          <p:cNvSpPr/>
          <p:nvPr/>
        </p:nvSpPr>
        <p:spPr>
          <a:xfrm>
            <a:off x="8366760" y="914400"/>
            <a:ext cx="3429000" cy="5440680"/>
          </a:xfrm>
          <a:prstGeom prst="roundRect">
            <a:avLst>
              <a:gd name="adj" fmla="val 5000"/>
            </a:avLst>
          </a:prstGeom>
          <a:gradFill flip="none" rotWithShape="1">
            <a:gsLst>
              <a:gs pos="0">
                <a:srgbClr val="0A1F44"/>
              </a:gs>
              <a:gs pos="100000">
                <a:srgbClr val="1E4FB5"/>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41080" y="1280160"/>
            <a:ext cx="2880360" cy="4709160"/>
          </a:xfrm>
          <a:prstGeom prst="rect">
            <a:avLst/>
          </a:prstGeom>
          <a:noFill/>
        </p:spPr>
        <p:txBody>
          <a:bodyPr wrap="square" lIns="36576" tIns="18288" rIns="36576" bIns="18288">
            <a:spAutoFit/>
          </a:bodyPr>
          <a:lstStyle/>
          <a:p>
            <a:pPr algn="ctr">
              <a:spcAft>
                <a:spcPts val="800"/>
              </a:spcAft>
            </a:pPr>
            <a:r>
              <a:rPr sz="1200" b="1" i="0">
                <a:solidFill>
                  <a:srgbClr val="00C8FF"/>
                </a:solidFill>
                <a:latin typeface="Calibri"/>
              </a:rPr>
              <a:t>COMPOSITE MEAN</a:t>
            </a:r>
          </a:p>
          <a:p>
            <a:pPr algn="ctr">
              <a:spcAft>
                <a:spcPts val="200"/>
              </a:spcAft>
            </a:pPr>
            <a:r>
              <a:rPr sz="8200" b="1" i="0">
                <a:solidFill>
                  <a:srgbClr val="9EE54D"/>
                </a:solidFill>
                <a:latin typeface="Calibri"/>
              </a:rPr>
              <a:t>3.95</a:t>
            </a:r>
          </a:p>
          <a:p>
            <a:pPr algn="ctr">
              <a:spcAft>
                <a:spcPts val="2400"/>
              </a:spcAft>
            </a:pPr>
            <a:r>
              <a:rPr sz="1400" b="0" i="0">
                <a:solidFill>
                  <a:srgbClr val="E7EEFB"/>
                </a:solidFill>
                <a:latin typeface="Calibri"/>
              </a:rPr>
              <a:t>out of 5.00</a:t>
            </a:r>
          </a:p>
          <a:p>
            <a:pPr algn="ctr">
              <a:spcAft>
                <a:spcPts val="200"/>
              </a:spcAft>
            </a:pPr>
            <a:r>
              <a:rPr sz="1100" b="1" i="0">
                <a:solidFill>
                  <a:srgbClr val="00C8FF"/>
                </a:solidFill>
                <a:latin typeface="Calibri"/>
              </a:rPr>
              <a:t>HIGHEST</a:t>
            </a:r>
          </a:p>
          <a:p>
            <a:pPr algn="ctr">
              <a:spcAft>
                <a:spcPts val="200"/>
              </a:spcAft>
            </a:pPr>
            <a:r>
              <a:rPr sz="1200" b="0" i="0">
                <a:solidFill>
                  <a:srgbClr val="FFFFFF"/>
                </a:solidFill>
                <a:latin typeface="Calibri"/>
              </a:rPr>
              <a:t>Time saving vs branch</a:t>
            </a:r>
          </a:p>
          <a:p>
            <a:pPr algn="ctr">
              <a:spcAft>
                <a:spcPts val="1800"/>
              </a:spcAft>
            </a:pPr>
            <a:r>
              <a:rPr sz="1800" b="1" i="0">
                <a:solidFill>
                  <a:srgbClr val="9EE54D"/>
                </a:solidFill>
                <a:latin typeface="Calibri"/>
              </a:rPr>
              <a:t>4.31 / 5</a:t>
            </a:r>
          </a:p>
          <a:p>
            <a:pPr algn="ctr">
              <a:spcAft>
                <a:spcPts val="200"/>
              </a:spcAft>
            </a:pPr>
            <a:r>
              <a:rPr sz="1100" b="1" i="0">
                <a:solidFill>
                  <a:srgbClr val="00C8FF"/>
                </a:solidFill>
                <a:latin typeface="Calibri"/>
              </a:rPr>
              <a:t>LOWEST</a:t>
            </a:r>
          </a:p>
          <a:p>
            <a:pPr algn="ctr">
              <a:spcAft>
                <a:spcPts val="200"/>
              </a:spcAft>
            </a:pPr>
            <a:r>
              <a:rPr sz="1200" b="0" i="0">
                <a:solidFill>
                  <a:srgbClr val="FFFFFF"/>
                </a:solidFill>
                <a:latin typeface="Calibri"/>
              </a:rPr>
              <a:t>Help for investments</a:t>
            </a:r>
          </a:p>
          <a:p>
            <a:pPr algn="ctr">
              <a:spcAft>
                <a:spcPts val="400"/>
              </a:spcAft>
            </a:pPr>
            <a:r>
              <a:rPr sz="1800" b="1" i="0">
                <a:solidFill>
                  <a:srgbClr val="FFB83B"/>
                </a:solidFill>
                <a:latin typeface="Calibri"/>
              </a:rPr>
              <a:t>3.61 / 5</a:t>
            </a:r>
          </a:p>
        </p:txBody>
      </p:sp>
      <p:sp>
        <p:nvSpPr>
          <p:cNvPr id="11" name="Rectangle 10"/>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Useful Yes, Easy Not Quite  -  EoU = 3.52 / 5</a:t>
            </a:r>
          </a:p>
        </p:txBody>
      </p:sp>
      <p:sp>
        <p:nvSpPr>
          <p:cNvPr id="7" name="Rounded Rectangle 6"/>
          <p:cNvSpPr/>
          <p:nvPr/>
        </p:nvSpPr>
        <p:spPr>
          <a:xfrm>
            <a:off x="411480" y="868680"/>
            <a:ext cx="5760720" cy="544068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051560"/>
            <a:ext cx="5212080" cy="411480"/>
          </a:xfrm>
          <a:prstGeom prst="rect">
            <a:avLst/>
          </a:prstGeom>
          <a:noFill/>
        </p:spPr>
        <p:txBody>
          <a:bodyPr wrap="square" lIns="36576" tIns="18288" rIns="36576" bIns="18288">
            <a:spAutoFit/>
          </a:bodyPr>
          <a:lstStyle/>
          <a:p>
            <a:pPr>
              <a:spcAft>
                <a:spcPts val="400"/>
              </a:spcAft>
            </a:pPr>
            <a:r>
              <a:rPr sz="1500" b="1" i="0">
                <a:solidFill>
                  <a:srgbClr val="0A1F44"/>
                </a:solidFill>
                <a:latin typeface="Calibri"/>
              </a:rPr>
              <a:t>Ease of Use Items (Mean / 5)</a:t>
            </a:r>
          </a:p>
        </p:txBody>
      </p:sp>
      <p:graphicFrame>
        <p:nvGraphicFramePr>
          <p:cNvPr id="9" name="Chart 8"/>
          <p:cNvGraphicFramePr>
            <a:graphicFrameLocks noGrp="1"/>
          </p:cNvGraphicFramePr>
          <p:nvPr/>
        </p:nvGraphicFramePr>
        <p:xfrm>
          <a:off x="685800" y="1508760"/>
          <a:ext cx="521208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ed Rectangle 9"/>
          <p:cNvSpPr/>
          <p:nvPr/>
        </p:nvSpPr>
        <p:spPr>
          <a:xfrm>
            <a:off x="685800" y="5303520"/>
            <a:ext cx="5212080" cy="822960"/>
          </a:xfrm>
          <a:prstGeom prst="roundRect">
            <a:avLst>
              <a:gd name="adj" fmla="val 5000"/>
            </a:avLst>
          </a:prstGeom>
          <a:gradFill flip="none" rotWithShape="1">
            <a:gsLst>
              <a:gs pos="0">
                <a:srgbClr val="FFB83B"/>
              </a:gs>
              <a:gs pos="100000">
                <a:srgbClr val="E86B29"/>
              </a:gs>
            </a:gsLst>
            <a:lin ang="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5394960"/>
            <a:ext cx="5212080" cy="640080"/>
          </a:xfrm>
          <a:prstGeom prst="rect">
            <a:avLst/>
          </a:prstGeom>
          <a:noFill/>
        </p:spPr>
        <p:txBody>
          <a:bodyPr wrap="square" lIns="36576" tIns="18288" rIns="36576" bIns="18288">
            <a:spAutoFit/>
          </a:bodyPr>
          <a:lstStyle/>
          <a:p>
            <a:pPr algn="ctr">
              <a:spcAft>
                <a:spcPts val="200"/>
              </a:spcAft>
            </a:pPr>
            <a:r>
              <a:rPr sz="1000" b="1" i="0">
                <a:solidFill>
                  <a:srgbClr val="FFFFFF"/>
                </a:solidFill>
                <a:latin typeface="Calibri"/>
              </a:rPr>
              <a:t>USEFUL - EASY GAP</a:t>
            </a:r>
          </a:p>
          <a:p>
            <a:pPr algn="ctr">
              <a:spcAft>
                <a:spcPts val="200"/>
              </a:spcAft>
            </a:pPr>
            <a:r>
              <a:rPr sz="2400" b="1" i="0">
                <a:solidFill>
                  <a:srgbClr val="FFFFFF"/>
                </a:solidFill>
                <a:latin typeface="Calibri"/>
              </a:rPr>
              <a:t>0.43</a:t>
            </a:r>
          </a:p>
          <a:p>
            <a:pPr algn="ctr">
              <a:spcAft>
                <a:spcPts val="400"/>
              </a:spcAft>
            </a:pPr>
            <a:r>
              <a:rPr sz="1000" b="0" i="1">
                <a:solidFill>
                  <a:srgbClr val="FFFFFF"/>
                </a:solidFill>
                <a:latin typeface="Calibri"/>
              </a:rPr>
              <a:t>the actionable improvement zone</a:t>
            </a:r>
          </a:p>
        </p:txBody>
      </p:sp>
      <p:sp>
        <p:nvSpPr>
          <p:cNvPr id="12" name="Rounded Rectangle 11"/>
          <p:cNvSpPr/>
          <p:nvPr/>
        </p:nvSpPr>
        <p:spPr>
          <a:xfrm>
            <a:off x="6355080" y="868680"/>
            <a:ext cx="5440680" cy="544068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29400" y="1051560"/>
            <a:ext cx="4892040" cy="411480"/>
          </a:xfrm>
          <a:prstGeom prst="rect">
            <a:avLst/>
          </a:prstGeom>
          <a:noFill/>
        </p:spPr>
        <p:txBody>
          <a:bodyPr wrap="square" lIns="36576" tIns="18288" rIns="36576" bIns="18288">
            <a:spAutoFit/>
          </a:bodyPr>
          <a:lstStyle/>
          <a:p>
            <a:pPr>
              <a:spcAft>
                <a:spcPts val="400"/>
              </a:spcAft>
            </a:pPr>
            <a:r>
              <a:rPr sz="1500" b="1" i="0">
                <a:solidFill>
                  <a:srgbClr val="0A1F44"/>
                </a:solidFill>
                <a:latin typeface="Calibri"/>
              </a:rPr>
              <a:t>Top 5 Reported Challenges (% of users)</a:t>
            </a:r>
          </a:p>
        </p:txBody>
      </p:sp>
      <p:graphicFrame>
        <p:nvGraphicFramePr>
          <p:cNvPr id="14" name="Chart 13"/>
          <p:cNvGraphicFramePr>
            <a:graphicFrameLocks noGrp="1"/>
          </p:cNvGraphicFramePr>
          <p:nvPr/>
        </p:nvGraphicFramePr>
        <p:xfrm>
          <a:off x="6629400" y="1508760"/>
          <a:ext cx="4892040" cy="3657600"/>
        </p:xfrm>
        <a:graphic>
          <a:graphicData uri="http://schemas.openxmlformats.org/drawingml/2006/chart">
            <c:chart xmlns:c="http://schemas.openxmlformats.org/drawingml/2006/chart" xmlns:r="http://schemas.openxmlformats.org/officeDocument/2006/relationships" r:id="rId4"/>
          </a:graphicData>
        </a:graphic>
      </p:graphicFrame>
      <p:sp>
        <p:nvSpPr>
          <p:cNvPr id="15" name="Rounded Rectangle 14"/>
          <p:cNvSpPr/>
          <p:nvPr/>
        </p:nvSpPr>
        <p:spPr>
          <a:xfrm>
            <a:off x="6629400" y="5303520"/>
            <a:ext cx="4892040" cy="822960"/>
          </a:xfrm>
          <a:prstGeom prst="roundRect">
            <a:avLst>
              <a:gd name="adj" fmla="val 5000"/>
            </a:avLst>
          </a:prstGeom>
          <a:gradFill flip="none" rotWithShape="1">
            <a:gsLst>
              <a:gs pos="0">
                <a:srgbClr val="0A1F44"/>
              </a:gs>
              <a:gs pos="100000">
                <a:srgbClr val="2E5BFF"/>
              </a:gs>
            </a:gsLst>
            <a:lin ang="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29400" y="5367528"/>
            <a:ext cx="4892040" cy="685800"/>
          </a:xfrm>
          <a:prstGeom prst="rect">
            <a:avLst/>
          </a:prstGeom>
          <a:noFill/>
        </p:spPr>
        <p:txBody>
          <a:bodyPr wrap="square" lIns="36576" tIns="18288" rIns="36576" bIns="18288">
            <a:spAutoFit/>
          </a:bodyPr>
          <a:lstStyle/>
          <a:p>
            <a:pPr algn="ctr">
              <a:spcAft>
                <a:spcPts val="200"/>
              </a:spcAft>
            </a:pPr>
            <a:r>
              <a:rPr sz="2200" b="1" i="0">
                <a:solidFill>
                  <a:srgbClr val="9EE54D"/>
                </a:solidFill>
                <a:latin typeface="Calibri"/>
              </a:rPr>
              <a:t>ONLY 14%</a:t>
            </a:r>
          </a:p>
          <a:p>
            <a:pPr algn="ctr">
              <a:spcAft>
                <a:spcPts val="400"/>
              </a:spcAft>
            </a:pPr>
            <a:r>
              <a:rPr sz="1100" b="0" i="1">
                <a:solidFill>
                  <a:srgbClr val="FFFFFF"/>
                </a:solidFill>
                <a:latin typeface="Calibri"/>
              </a:rPr>
              <a:t>of users report no challenges  -  friction is the norm</a:t>
            </a:r>
          </a:p>
        </p:txBody>
      </p:sp>
      <p:sp>
        <p:nvSpPr>
          <p:cNvPr id="17" name="Rectangle 16"/>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A Majority Satisfied, but Loyalty Not Locked In</a:t>
            </a:r>
          </a:p>
        </p:txBody>
      </p:sp>
      <p:sp>
        <p:nvSpPr>
          <p:cNvPr id="7" name="Rounded Rectangle 6"/>
          <p:cNvSpPr/>
          <p:nvPr/>
        </p:nvSpPr>
        <p:spPr>
          <a:xfrm>
            <a:off x="411480" y="868680"/>
            <a:ext cx="5943600" cy="544068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051560"/>
            <a:ext cx="5394960" cy="411480"/>
          </a:xfrm>
          <a:prstGeom prst="rect">
            <a:avLst/>
          </a:prstGeom>
          <a:noFill/>
        </p:spPr>
        <p:txBody>
          <a:bodyPr wrap="square" lIns="36576" tIns="18288" rIns="36576" bIns="18288">
            <a:spAutoFit/>
          </a:bodyPr>
          <a:lstStyle/>
          <a:p>
            <a:pPr>
              <a:spcAft>
                <a:spcPts val="400"/>
              </a:spcAft>
            </a:pPr>
            <a:r>
              <a:rPr sz="1500" b="1" i="0">
                <a:solidFill>
                  <a:srgbClr val="0A1F44"/>
                </a:solidFill>
                <a:latin typeface="Calibri"/>
              </a:rPr>
              <a:t>Overall Satisfaction Distribution</a:t>
            </a:r>
          </a:p>
        </p:txBody>
      </p:sp>
      <p:graphicFrame>
        <p:nvGraphicFramePr>
          <p:cNvPr id="9" name="Chart 8"/>
          <p:cNvGraphicFramePr>
            <a:graphicFrameLocks noGrp="1"/>
          </p:cNvGraphicFramePr>
          <p:nvPr/>
        </p:nvGraphicFramePr>
        <p:xfrm>
          <a:off x="685800" y="1508760"/>
          <a:ext cx="539496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10" name="Rounded Rectangle 9"/>
          <p:cNvSpPr/>
          <p:nvPr/>
        </p:nvSpPr>
        <p:spPr>
          <a:xfrm>
            <a:off x="6446520" y="868680"/>
            <a:ext cx="5349240" cy="544068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20840" y="1051560"/>
            <a:ext cx="4800600" cy="411480"/>
          </a:xfrm>
          <a:prstGeom prst="rect">
            <a:avLst/>
          </a:prstGeom>
          <a:noFill/>
        </p:spPr>
        <p:txBody>
          <a:bodyPr wrap="square" lIns="36576" tIns="18288" rIns="36576" bIns="18288">
            <a:spAutoFit/>
          </a:bodyPr>
          <a:lstStyle/>
          <a:p>
            <a:pPr>
              <a:spcAft>
                <a:spcPts val="400"/>
              </a:spcAft>
            </a:pPr>
            <a:r>
              <a:rPr sz="1500" b="1" i="0">
                <a:solidFill>
                  <a:srgbClr val="0A1F44"/>
                </a:solidFill>
                <a:latin typeface="Calibri"/>
              </a:rPr>
              <a:t>Headline Numbers</a:t>
            </a:r>
          </a:p>
        </p:txBody>
      </p:sp>
      <p:sp>
        <p:nvSpPr>
          <p:cNvPr id="12" name="Rounded Rectangle 11"/>
          <p:cNvSpPr/>
          <p:nvPr/>
        </p:nvSpPr>
        <p:spPr>
          <a:xfrm>
            <a:off x="6720840" y="1645920"/>
            <a:ext cx="4800600" cy="1417320"/>
          </a:xfrm>
          <a:prstGeom prst="roundRect">
            <a:avLst>
              <a:gd name="adj" fmla="val 5000"/>
            </a:avLst>
          </a:prstGeom>
          <a:gradFill flip="none" rotWithShape="1">
            <a:gsLst>
              <a:gs pos="0">
                <a:srgbClr val="22A06B"/>
              </a:gs>
              <a:gs pos="100000">
                <a:srgbClr val="12B79E"/>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720840" y="1783080"/>
            <a:ext cx="4800600" cy="777240"/>
          </a:xfrm>
          <a:prstGeom prst="rect">
            <a:avLst/>
          </a:prstGeom>
          <a:noFill/>
        </p:spPr>
        <p:txBody>
          <a:bodyPr wrap="square" lIns="36576" tIns="18288" rIns="36576" bIns="18288">
            <a:spAutoFit/>
          </a:bodyPr>
          <a:lstStyle/>
          <a:p>
            <a:pPr algn="ctr">
              <a:spcAft>
                <a:spcPts val="400"/>
              </a:spcAft>
            </a:pPr>
            <a:r>
              <a:rPr sz="3600" b="1" i="0">
                <a:solidFill>
                  <a:srgbClr val="9EE54D"/>
                </a:solidFill>
                <a:latin typeface="Calibri"/>
              </a:rPr>
              <a:t>60.0%</a:t>
            </a:r>
          </a:p>
        </p:txBody>
      </p:sp>
      <p:sp>
        <p:nvSpPr>
          <p:cNvPr id="14" name="TextBox 13"/>
          <p:cNvSpPr txBox="1"/>
          <p:nvPr/>
        </p:nvSpPr>
        <p:spPr>
          <a:xfrm>
            <a:off x="6720840" y="2514600"/>
            <a:ext cx="48006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Satisfied / Very Satisfied</a:t>
            </a:r>
          </a:p>
        </p:txBody>
      </p:sp>
      <p:sp>
        <p:nvSpPr>
          <p:cNvPr id="15" name="Rounded Rectangle 14"/>
          <p:cNvSpPr/>
          <p:nvPr/>
        </p:nvSpPr>
        <p:spPr>
          <a:xfrm>
            <a:off x="6720840" y="3227832"/>
            <a:ext cx="4800600" cy="1417320"/>
          </a:xfrm>
          <a:prstGeom prst="roundRect">
            <a:avLst>
              <a:gd name="adj" fmla="val 5000"/>
            </a:avLst>
          </a:prstGeom>
          <a:gradFill flip="none" rotWithShape="1">
            <a:gsLst>
              <a:gs pos="0">
                <a:srgbClr val="0A1F44"/>
              </a:gs>
              <a:gs pos="100000">
                <a:srgbClr val="1E4FB5"/>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20840" y="3364992"/>
            <a:ext cx="4800600" cy="777240"/>
          </a:xfrm>
          <a:prstGeom prst="rect">
            <a:avLst/>
          </a:prstGeom>
          <a:noFill/>
        </p:spPr>
        <p:txBody>
          <a:bodyPr wrap="square" lIns="36576" tIns="18288" rIns="36576" bIns="18288">
            <a:spAutoFit/>
          </a:bodyPr>
          <a:lstStyle/>
          <a:p>
            <a:pPr algn="ctr">
              <a:spcAft>
                <a:spcPts val="400"/>
              </a:spcAft>
            </a:pPr>
            <a:r>
              <a:rPr sz="3600" b="1" i="0">
                <a:solidFill>
                  <a:srgbClr val="00C8FF"/>
                </a:solidFill>
                <a:latin typeface="Calibri"/>
              </a:rPr>
              <a:t>25.3%</a:t>
            </a:r>
          </a:p>
        </p:txBody>
      </p:sp>
      <p:sp>
        <p:nvSpPr>
          <p:cNvPr id="17" name="TextBox 16"/>
          <p:cNvSpPr txBox="1"/>
          <p:nvPr/>
        </p:nvSpPr>
        <p:spPr>
          <a:xfrm>
            <a:off x="6720840" y="4096512"/>
            <a:ext cx="48006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Neutral  -  the swing segment</a:t>
            </a:r>
          </a:p>
        </p:txBody>
      </p:sp>
      <p:sp>
        <p:nvSpPr>
          <p:cNvPr id="18" name="Rounded Rectangle 17"/>
          <p:cNvSpPr/>
          <p:nvPr/>
        </p:nvSpPr>
        <p:spPr>
          <a:xfrm>
            <a:off x="6720840" y="4809744"/>
            <a:ext cx="4800600" cy="1417320"/>
          </a:xfrm>
          <a:prstGeom prst="roundRect">
            <a:avLst>
              <a:gd name="adj" fmla="val 5000"/>
            </a:avLst>
          </a:prstGeom>
          <a:gradFill flip="none" rotWithShape="1">
            <a:gsLst>
              <a:gs pos="0">
                <a:srgbClr val="701A1A"/>
              </a:gs>
              <a:gs pos="100000">
                <a:srgbClr val="E86B29"/>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20840" y="4946904"/>
            <a:ext cx="4800600" cy="777240"/>
          </a:xfrm>
          <a:prstGeom prst="rect">
            <a:avLst/>
          </a:prstGeom>
          <a:noFill/>
        </p:spPr>
        <p:txBody>
          <a:bodyPr wrap="square" lIns="36576" tIns="18288" rIns="36576" bIns="18288">
            <a:spAutoFit/>
          </a:bodyPr>
          <a:lstStyle/>
          <a:p>
            <a:pPr algn="ctr">
              <a:spcAft>
                <a:spcPts val="400"/>
              </a:spcAft>
            </a:pPr>
            <a:r>
              <a:rPr sz="3600" b="1" i="0">
                <a:solidFill>
                  <a:srgbClr val="FFB83B"/>
                </a:solidFill>
                <a:latin typeface="Calibri"/>
              </a:rPr>
              <a:t>14.7%</a:t>
            </a:r>
          </a:p>
        </p:txBody>
      </p:sp>
      <p:sp>
        <p:nvSpPr>
          <p:cNvPr id="20" name="TextBox 19"/>
          <p:cNvSpPr txBox="1"/>
          <p:nvPr/>
        </p:nvSpPr>
        <p:spPr>
          <a:xfrm>
            <a:off x="6720840" y="5678424"/>
            <a:ext cx="48006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Dissatisfied  -  churn risk</a:t>
            </a:r>
          </a:p>
        </p:txBody>
      </p:sp>
      <p:sp>
        <p:nvSpPr>
          <p:cNvPr id="21" name="Rectangle 20"/>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Hypothesis Testing  -  All Four Accepted</a:t>
            </a:r>
          </a:p>
        </p:txBody>
      </p:sp>
      <p:sp>
        <p:nvSpPr>
          <p:cNvPr id="7" name="TextBox 6"/>
          <p:cNvSpPr txBox="1"/>
          <p:nvPr/>
        </p:nvSpPr>
        <p:spPr>
          <a:xfrm>
            <a:off x="548640" y="868680"/>
            <a:ext cx="10972800" cy="365760"/>
          </a:xfrm>
          <a:prstGeom prst="rect">
            <a:avLst/>
          </a:prstGeom>
          <a:noFill/>
        </p:spPr>
        <p:txBody>
          <a:bodyPr wrap="square" lIns="36576" tIns="18288" rIns="36576" bIns="18288">
            <a:spAutoFit/>
          </a:bodyPr>
          <a:lstStyle/>
          <a:p>
            <a:pPr>
              <a:spcAft>
                <a:spcPts val="400"/>
              </a:spcAft>
            </a:pPr>
            <a:r>
              <a:rPr sz="1300" b="0" i="1">
                <a:solidFill>
                  <a:srgbClr val="5A6478"/>
                </a:solidFill>
                <a:latin typeface="Calibri"/>
              </a:rPr>
              <a:t>Each hypothesis tested at the 5% significance level using Pearson correlation, multiple regression, or chi-square.</a:t>
            </a:r>
          </a:p>
        </p:txBody>
      </p:sp>
      <p:graphicFrame>
        <p:nvGraphicFramePr>
          <p:cNvPr id="8" name="Table 7"/>
          <p:cNvGraphicFramePr>
            <a:graphicFrameLocks noGrp="1"/>
          </p:cNvGraphicFramePr>
          <p:nvPr/>
        </p:nvGraphicFramePr>
        <p:xfrm>
          <a:off x="411480" y="1325880"/>
          <a:ext cx="11384280" cy="3246120"/>
        </p:xfrm>
        <a:graphic>
          <a:graphicData uri="http://schemas.openxmlformats.org/drawingml/2006/table">
            <a:tbl>
              <a:tblPr firstRow="1" bandRow="1">
                <a:tableStyleId>{5C22544A-7EE6-4342-B048-85BDC9FD1C3A}</a:tableStyleId>
              </a:tblPr>
              <a:tblGrid>
                <a:gridCol w="6400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3611880">
                  <a:extLst>
                    <a:ext uri="{9D8B030D-6E8A-4147-A177-3AD203B41FA5}">
                      <a16:colId xmlns:a16="http://schemas.microsoft.com/office/drawing/2014/main" val="20003"/>
                    </a:ext>
                  </a:extLst>
                </a:gridCol>
                <a:gridCol w="1463040">
                  <a:extLst>
                    <a:ext uri="{9D8B030D-6E8A-4147-A177-3AD203B41FA5}">
                      <a16:colId xmlns:a16="http://schemas.microsoft.com/office/drawing/2014/main" val="20004"/>
                    </a:ext>
                  </a:extLst>
                </a:gridCol>
              </a:tblGrid>
              <a:tr h="649224">
                <a:tc>
                  <a:txBody>
                    <a:bodyPr/>
                    <a:lstStyle/>
                    <a:p>
                      <a:pPr algn="ctr"/>
                      <a:r>
                        <a:rPr sz="1200" b="1" i="0">
                          <a:solidFill>
                            <a:srgbClr val="FFFFFF"/>
                          </a:solidFill>
                          <a:latin typeface="Calibri"/>
                        </a:rPr>
                        <a:t>H</a:t>
                      </a:r>
                    </a:p>
                  </a:txBody>
                  <a:tcPr anchor="ctr">
                    <a:solidFill>
                      <a:srgbClr val="0A1F44"/>
                    </a:solidFill>
                  </a:tcPr>
                </a:tc>
                <a:tc>
                  <a:txBody>
                    <a:bodyPr/>
                    <a:lstStyle/>
                    <a:p>
                      <a:pPr algn="ctr"/>
                      <a:r>
                        <a:rPr sz="1200" b="1" i="0">
                          <a:solidFill>
                            <a:srgbClr val="FFFFFF"/>
                          </a:solidFill>
                          <a:latin typeface="Calibri"/>
                        </a:rPr>
                        <a:t>Hypothesis</a:t>
                      </a:r>
                    </a:p>
                  </a:txBody>
                  <a:tcPr anchor="ctr">
                    <a:solidFill>
                      <a:srgbClr val="0A1F44"/>
                    </a:solidFill>
                  </a:tcPr>
                </a:tc>
                <a:tc>
                  <a:txBody>
                    <a:bodyPr/>
                    <a:lstStyle/>
                    <a:p>
                      <a:pPr algn="ctr"/>
                      <a:r>
                        <a:rPr sz="1200" b="1" i="0">
                          <a:solidFill>
                            <a:srgbClr val="FFFFFF"/>
                          </a:solidFill>
                          <a:latin typeface="Calibri"/>
                        </a:rPr>
                        <a:t>Test</a:t>
                      </a:r>
                    </a:p>
                  </a:txBody>
                  <a:tcPr anchor="ctr">
                    <a:solidFill>
                      <a:srgbClr val="0A1F44"/>
                    </a:solidFill>
                  </a:tcPr>
                </a:tc>
                <a:tc>
                  <a:txBody>
                    <a:bodyPr/>
                    <a:lstStyle/>
                    <a:p>
                      <a:pPr algn="ctr"/>
                      <a:r>
                        <a:rPr sz="1200" b="1" i="0">
                          <a:solidFill>
                            <a:srgbClr val="FFFFFF"/>
                          </a:solidFill>
                          <a:latin typeface="Calibri"/>
                        </a:rPr>
                        <a:t>Result</a:t>
                      </a:r>
                    </a:p>
                  </a:txBody>
                  <a:tcPr anchor="ctr">
                    <a:solidFill>
                      <a:srgbClr val="0A1F44"/>
                    </a:solidFill>
                  </a:tcPr>
                </a:tc>
                <a:tc>
                  <a:txBody>
                    <a:bodyPr/>
                    <a:lstStyle/>
                    <a:p>
                      <a:pPr algn="ctr"/>
                      <a:r>
                        <a:rPr sz="1200" b="1" i="0">
                          <a:solidFill>
                            <a:srgbClr val="FFFFFF"/>
                          </a:solidFill>
                          <a:latin typeface="Calibri"/>
                        </a:rPr>
                        <a:t>Decision</a:t>
                      </a:r>
                    </a:p>
                  </a:txBody>
                  <a:tcPr anchor="ctr">
                    <a:solidFill>
                      <a:srgbClr val="0A1F44"/>
                    </a:solidFill>
                  </a:tcPr>
                </a:tc>
                <a:extLst>
                  <a:ext uri="{0D108BD9-81ED-4DB2-BD59-A6C34878D82A}">
                    <a16:rowId xmlns:a16="http://schemas.microsoft.com/office/drawing/2014/main" val="10000"/>
                  </a:ext>
                </a:extLst>
              </a:tr>
              <a:tr h="649224">
                <a:tc>
                  <a:txBody>
                    <a:bodyPr/>
                    <a:lstStyle/>
                    <a:p>
                      <a:pPr algn="l"/>
                      <a:r>
                        <a:rPr sz="1100" b="0" i="0">
                          <a:solidFill>
                            <a:srgbClr val="0A101F"/>
                          </a:solidFill>
                          <a:latin typeface="Calibri"/>
                        </a:rPr>
                        <a:t>H1</a:t>
                      </a:r>
                    </a:p>
                  </a:txBody>
                  <a:tcPr anchor="ctr">
                    <a:solidFill>
                      <a:srgbClr val="E7EEFB"/>
                    </a:solidFill>
                  </a:tcPr>
                </a:tc>
                <a:tc>
                  <a:txBody>
                    <a:bodyPr/>
                    <a:lstStyle/>
                    <a:p>
                      <a:pPr algn="ctr"/>
                      <a:r>
                        <a:rPr sz="1100" b="0" i="0">
                          <a:solidFill>
                            <a:srgbClr val="0A101F"/>
                          </a:solidFill>
                          <a:latin typeface="Calibri"/>
                        </a:rPr>
                        <a:t>Ease of Use -&gt; Satisfaction</a:t>
                      </a:r>
                    </a:p>
                  </a:txBody>
                  <a:tcPr anchor="ctr">
                    <a:solidFill>
                      <a:srgbClr val="E7EEFB"/>
                    </a:solidFill>
                  </a:tcPr>
                </a:tc>
                <a:tc>
                  <a:txBody>
                    <a:bodyPr/>
                    <a:lstStyle/>
                    <a:p>
                      <a:pPr algn="ctr"/>
                      <a:r>
                        <a:rPr sz="1100" b="0" i="0">
                          <a:solidFill>
                            <a:srgbClr val="0A101F"/>
                          </a:solidFill>
                          <a:latin typeface="Calibri"/>
                        </a:rPr>
                        <a:t>Pearson + Regression</a:t>
                      </a:r>
                    </a:p>
                  </a:txBody>
                  <a:tcPr anchor="ctr">
                    <a:solidFill>
                      <a:srgbClr val="E7EEFB"/>
                    </a:solidFill>
                  </a:tcPr>
                </a:tc>
                <a:tc>
                  <a:txBody>
                    <a:bodyPr/>
                    <a:lstStyle/>
                    <a:p>
                      <a:pPr algn="ctr"/>
                      <a:r>
                        <a:rPr sz="1100" b="0" i="0">
                          <a:solidFill>
                            <a:srgbClr val="0A101F"/>
                          </a:solidFill>
                          <a:latin typeface="Calibri"/>
                        </a:rPr>
                        <a:t>r = 0.72; B = 0.31; p &lt; 0.001</a:t>
                      </a:r>
                    </a:p>
                  </a:txBody>
                  <a:tcPr anchor="ctr">
                    <a:solidFill>
                      <a:srgbClr val="E7EEFB"/>
                    </a:solidFill>
                  </a:tcPr>
                </a:tc>
                <a:tc>
                  <a:txBody>
                    <a:bodyPr/>
                    <a:lstStyle/>
                    <a:p>
                      <a:pPr algn="ctr"/>
                      <a:r>
                        <a:rPr sz="1100" b="0" i="0">
                          <a:solidFill>
                            <a:srgbClr val="0A101F"/>
                          </a:solidFill>
                          <a:latin typeface="Calibri"/>
                        </a:rPr>
                        <a:t>ACCEPTED</a:t>
                      </a:r>
                    </a:p>
                  </a:txBody>
                  <a:tcPr anchor="ctr">
                    <a:solidFill>
                      <a:srgbClr val="E7EEFB"/>
                    </a:solidFill>
                  </a:tcPr>
                </a:tc>
                <a:extLst>
                  <a:ext uri="{0D108BD9-81ED-4DB2-BD59-A6C34878D82A}">
                    <a16:rowId xmlns:a16="http://schemas.microsoft.com/office/drawing/2014/main" val="10001"/>
                  </a:ext>
                </a:extLst>
              </a:tr>
              <a:tr h="649224">
                <a:tc>
                  <a:txBody>
                    <a:bodyPr/>
                    <a:lstStyle/>
                    <a:p>
                      <a:pPr algn="l"/>
                      <a:r>
                        <a:rPr sz="1100" b="0" i="0">
                          <a:solidFill>
                            <a:srgbClr val="0A101F"/>
                          </a:solidFill>
                          <a:latin typeface="Calibri"/>
                        </a:rPr>
                        <a:t>H2</a:t>
                      </a:r>
                    </a:p>
                  </a:txBody>
                  <a:tcPr anchor="ctr">
                    <a:solidFill>
                      <a:srgbClr val="FFFFFF"/>
                    </a:solidFill>
                  </a:tcPr>
                </a:tc>
                <a:tc>
                  <a:txBody>
                    <a:bodyPr/>
                    <a:lstStyle/>
                    <a:p>
                      <a:pPr algn="ctr"/>
                      <a:r>
                        <a:rPr sz="1100" b="0" i="0">
                          <a:solidFill>
                            <a:srgbClr val="0A101F"/>
                          </a:solidFill>
                          <a:latin typeface="Calibri"/>
                        </a:rPr>
                        <a:t>Usefulness -&gt; Satisfaction</a:t>
                      </a:r>
                    </a:p>
                  </a:txBody>
                  <a:tcPr anchor="ctr">
                    <a:solidFill>
                      <a:srgbClr val="FFFFFF"/>
                    </a:solidFill>
                  </a:tcPr>
                </a:tc>
                <a:tc>
                  <a:txBody>
                    <a:bodyPr/>
                    <a:lstStyle/>
                    <a:p>
                      <a:pPr algn="ctr"/>
                      <a:r>
                        <a:rPr sz="1100" b="0" i="0">
                          <a:solidFill>
                            <a:srgbClr val="0A101F"/>
                          </a:solidFill>
                          <a:latin typeface="Calibri"/>
                        </a:rPr>
                        <a:t>Pearson + Regression</a:t>
                      </a:r>
                    </a:p>
                  </a:txBody>
                  <a:tcPr anchor="ctr">
                    <a:solidFill>
                      <a:srgbClr val="FFFFFF"/>
                    </a:solidFill>
                  </a:tcPr>
                </a:tc>
                <a:tc>
                  <a:txBody>
                    <a:bodyPr/>
                    <a:lstStyle/>
                    <a:p>
                      <a:pPr algn="ctr"/>
                      <a:r>
                        <a:rPr sz="1100" b="0" i="0">
                          <a:solidFill>
                            <a:srgbClr val="0A101F"/>
                          </a:solidFill>
                          <a:latin typeface="Calibri"/>
                        </a:rPr>
                        <a:t>r = 0.78; B = 0.38; p &lt; 0.001</a:t>
                      </a:r>
                    </a:p>
                  </a:txBody>
                  <a:tcPr anchor="ctr">
                    <a:solidFill>
                      <a:srgbClr val="FFFFFF"/>
                    </a:solidFill>
                  </a:tcPr>
                </a:tc>
                <a:tc>
                  <a:txBody>
                    <a:bodyPr/>
                    <a:lstStyle/>
                    <a:p>
                      <a:pPr algn="ctr"/>
                      <a:r>
                        <a:rPr sz="1100" b="0" i="0">
                          <a:solidFill>
                            <a:srgbClr val="0A101F"/>
                          </a:solidFill>
                          <a:latin typeface="Calibri"/>
                        </a:rPr>
                        <a:t>ACCEPTED</a:t>
                      </a:r>
                    </a:p>
                  </a:txBody>
                  <a:tcPr anchor="ctr">
                    <a:solidFill>
                      <a:srgbClr val="FFFFFF"/>
                    </a:solidFill>
                  </a:tcPr>
                </a:tc>
                <a:extLst>
                  <a:ext uri="{0D108BD9-81ED-4DB2-BD59-A6C34878D82A}">
                    <a16:rowId xmlns:a16="http://schemas.microsoft.com/office/drawing/2014/main" val="10002"/>
                  </a:ext>
                </a:extLst>
              </a:tr>
              <a:tr h="649224">
                <a:tc>
                  <a:txBody>
                    <a:bodyPr/>
                    <a:lstStyle/>
                    <a:p>
                      <a:pPr algn="l"/>
                      <a:r>
                        <a:rPr sz="1100" b="0" i="0">
                          <a:solidFill>
                            <a:srgbClr val="0A101F"/>
                          </a:solidFill>
                          <a:latin typeface="Calibri"/>
                        </a:rPr>
                        <a:t>H3</a:t>
                      </a:r>
                    </a:p>
                  </a:txBody>
                  <a:tcPr anchor="ctr">
                    <a:solidFill>
                      <a:srgbClr val="E7EEFB"/>
                    </a:solidFill>
                  </a:tcPr>
                </a:tc>
                <a:tc>
                  <a:txBody>
                    <a:bodyPr/>
                    <a:lstStyle/>
                    <a:p>
                      <a:pPr algn="ctr"/>
                      <a:r>
                        <a:rPr sz="1100" b="0" i="0">
                          <a:solidFill>
                            <a:srgbClr val="0A101F"/>
                          </a:solidFill>
                          <a:latin typeface="Calibri"/>
                        </a:rPr>
                        <a:t>Age Group ~ Usage Frequency</a:t>
                      </a:r>
                    </a:p>
                  </a:txBody>
                  <a:tcPr anchor="ctr">
                    <a:solidFill>
                      <a:srgbClr val="E7EEFB"/>
                    </a:solidFill>
                  </a:tcPr>
                </a:tc>
                <a:tc>
                  <a:txBody>
                    <a:bodyPr/>
                    <a:lstStyle/>
                    <a:p>
                      <a:pPr algn="ctr"/>
                      <a:r>
                        <a:rPr sz="1100" b="0" i="0">
                          <a:solidFill>
                            <a:srgbClr val="0A101F"/>
                          </a:solidFill>
                          <a:latin typeface="Calibri"/>
                        </a:rPr>
                        <a:t>Chi-Square</a:t>
                      </a:r>
                    </a:p>
                  </a:txBody>
                  <a:tcPr anchor="ctr">
                    <a:solidFill>
                      <a:srgbClr val="E7EEFB"/>
                    </a:solidFill>
                  </a:tcPr>
                </a:tc>
                <a:tc>
                  <a:txBody>
                    <a:bodyPr/>
                    <a:lstStyle/>
                    <a:p>
                      <a:pPr algn="ctr"/>
                      <a:r>
                        <a:rPr sz="1100" b="0" i="0">
                          <a:solidFill>
                            <a:srgbClr val="0A101F"/>
                          </a:solidFill>
                          <a:latin typeface="Calibri"/>
                        </a:rPr>
                        <a:t>Chi^2 = 31.84; df = 16; p = 0.011</a:t>
                      </a:r>
                    </a:p>
                  </a:txBody>
                  <a:tcPr anchor="ctr">
                    <a:solidFill>
                      <a:srgbClr val="E7EEFB"/>
                    </a:solidFill>
                  </a:tcPr>
                </a:tc>
                <a:tc>
                  <a:txBody>
                    <a:bodyPr/>
                    <a:lstStyle/>
                    <a:p>
                      <a:pPr algn="ctr"/>
                      <a:r>
                        <a:rPr sz="1100" b="0" i="0">
                          <a:solidFill>
                            <a:srgbClr val="0A101F"/>
                          </a:solidFill>
                          <a:latin typeface="Calibri"/>
                        </a:rPr>
                        <a:t>ACCEPTED</a:t>
                      </a:r>
                    </a:p>
                  </a:txBody>
                  <a:tcPr anchor="ctr">
                    <a:solidFill>
                      <a:srgbClr val="E7EEFB"/>
                    </a:solidFill>
                  </a:tcPr>
                </a:tc>
                <a:extLst>
                  <a:ext uri="{0D108BD9-81ED-4DB2-BD59-A6C34878D82A}">
                    <a16:rowId xmlns:a16="http://schemas.microsoft.com/office/drawing/2014/main" val="10003"/>
                  </a:ext>
                </a:extLst>
              </a:tr>
              <a:tr h="649224">
                <a:tc>
                  <a:txBody>
                    <a:bodyPr/>
                    <a:lstStyle/>
                    <a:p>
                      <a:pPr algn="l"/>
                      <a:r>
                        <a:rPr sz="1100" b="0" i="0">
                          <a:solidFill>
                            <a:srgbClr val="0A101F"/>
                          </a:solidFill>
                          <a:latin typeface="Calibri"/>
                        </a:rPr>
                        <a:t>H4</a:t>
                      </a:r>
                    </a:p>
                  </a:txBody>
                  <a:tcPr anchor="ctr">
                    <a:solidFill>
                      <a:srgbClr val="FFFFFF"/>
                    </a:solidFill>
                  </a:tcPr>
                </a:tc>
                <a:tc>
                  <a:txBody>
                    <a:bodyPr/>
                    <a:lstStyle/>
                    <a:p>
                      <a:pPr algn="ctr"/>
                      <a:r>
                        <a:rPr sz="1100" b="0" i="0">
                          <a:solidFill>
                            <a:srgbClr val="0A101F"/>
                          </a:solidFill>
                          <a:latin typeface="Calibri"/>
                        </a:rPr>
                        <a:t>Security -&gt; Satisfaction</a:t>
                      </a:r>
                    </a:p>
                  </a:txBody>
                  <a:tcPr anchor="ctr">
                    <a:solidFill>
                      <a:srgbClr val="FFFFFF"/>
                    </a:solidFill>
                  </a:tcPr>
                </a:tc>
                <a:tc>
                  <a:txBody>
                    <a:bodyPr/>
                    <a:lstStyle/>
                    <a:p>
                      <a:pPr algn="ctr"/>
                      <a:r>
                        <a:rPr sz="1100" b="0" i="0">
                          <a:solidFill>
                            <a:srgbClr val="0A101F"/>
                          </a:solidFill>
                          <a:latin typeface="Calibri"/>
                        </a:rPr>
                        <a:t>Multiple Regression</a:t>
                      </a:r>
                    </a:p>
                  </a:txBody>
                  <a:tcPr anchor="ctr">
                    <a:solidFill>
                      <a:srgbClr val="FFFFFF"/>
                    </a:solidFill>
                  </a:tcPr>
                </a:tc>
                <a:tc>
                  <a:txBody>
                    <a:bodyPr/>
                    <a:lstStyle/>
                    <a:p>
                      <a:pPr algn="ctr"/>
                      <a:r>
                        <a:rPr sz="1100" b="0" i="0">
                          <a:solidFill>
                            <a:srgbClr val="0A101F"/>
                          </a:solidFill>
                          <a:latin typeface="Calibri"/>
                        </a:rPr>
                        <a:t>B = 0.22; p = 0.013</a:t>
                      </a:r>
                    </a:p>
                  </a:txBody>
                  <a:tcPr anchor="ctr">
                    <a:solidFill>
                      <a:srgbClr val="FFFFFF"/>
                    </a:solidFill>
                  </a:tcPr>
                </a:tc>
                <a:tc>
                  <a:txBody>
                    <a:bodyPr/>
                    <a:lstStyle/>
                    <a:p>
                      <a:pPr algn="ctr"/>
                      <a:r>
                        <a:rPr sz="1100" b="0" i="0">
                          <a:solidFill>
                            <a:srgbClr val="0A101F"/>
                          </a:solidFill>
                          <a:latin typeface="Calibri"/>
                        </a:rPr>
                        <a:t>ACCEPTED</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9" name="Rounded Rectangle 8"/>
          <p:cNvSpPr/>
          <p:nvPr/>
        </p:nvSpPr>
        <p:spPr>
          <a:xfrm>
            <a:off x="411480" y="4800600"/>
            <a:ext cx="3657600" cy="1417320"/>
          </a:xfrm>
          <a:prstGeom prst="roundRect">
            <a:avLst>
              <a:gd name="adj" fmla="val 5000"/>
            </a:avLst>
          </a:prstGeom>
          <a:gradFill flip="none" rotWithShape="1">
            <a:gsLst>
              <a:gs pos="0">
                <a:srgbClr val="0A1F44"/>
              </a:gs>
              <a:gs pos="100000">
                <a:srgbClr val="1E4FB5"/>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11480" y="4937760"/>
            <a:ext cx="3657600" cy="777240"/>
          </a:xfrm>
          <a:prstGeom prst="rect">
            <a:avLst/>
          </a:prstGeom>
          <a:noFill/>
        </p:spPr>
        <p:txBody>
          <a:bodyPr wrap="square" lIns="36576" tIns="18288" rIns="36576" bIns="18288">
            <a:spAutoFit/>
          </a:bodyPr>
          <a:lstStyle/>
          <a:p>
            <a:pPr algn="ctr">
              <a:spcAft>
                <a:spcPts val="400"/>
              </a:spcAft>
            </a:pPr>
            <a:r>
              <a:rPr sz="3600" b="1" i="0">
                <a:solidFill>
                  <a:srgbClr val="00C8FF"/>
                </a:solidFill>
                <a:latin typeface="Calibri"/>
              </a:rPr>
              <a:t>R^2 = 0.755</a:t>
            </a:r>
          </a:p>
        </p:txBody>
      </p:sp>
      <p:sp>
        <p:nvSpPr>
          <p:cNvPr id="11" name="TextBox 10"/>
          <p:cNvSpPr txBox="1"/>
          <p:nvPr/>
        </p:nvSpPr>
        <p:spPr>
          <a:xfrm>
            <a:off x="411480" y="5669280"/>
            <a:ext cx="36576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Variance in Satisfaction Explained</a:t>
            </a:r>
          </a:p>
        </p:txBody>
      </p:sp>
      <p:sp>
        <p:nvSpPr>
          <p:cNvPr id="12" name="Rounded Rectangle 11"/>
          <p:cNvSpPr/>
          <p:nvPr/>
        </p:nvSpPr>
        <p:spPr>
          <a:xfrm>
            <a:off x="4251960" y="4800600"/>
            <a:ext cx="3657600" cy="1417320"/>
          </a:xfrm>
          <a:prstGeom prst="roundRect">
            <a:avLst>
              <a:gd name="adj" fmla="val 5000"/>
            </a:avLst>
          </a:prstGeom>
          <a:gradFill flip="none" rotWithShape="1">
            <a:gsLst>
              <a:gs pos="0">
                <a:srgbClr val="22A06B"/>
              </a:gs>
              <a:gs pos="100000">
                <a:srgbClr val="12B79E"/>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251960" y="4937760"/>
            <a:ext cx="3657600" cy="777240"/>
          </a:xfrm>
          <a:prstGeom prst="rect">
            <a:avLst/>
          </a:prstGeom>
          <a:noFill/>
        </p:spPr>
        <p:txBody>
          <a:bodyPr wrap="square" lIns="36576" tIns="18288" rIns="36576" bIns="18288">
            <a:spAutoFit/>
          </a:bodyPr>
          <a:lstStyle/>
          <a:p>
            <a:pPr algn="ctr">
              <a:spcAft>
                <a:spcPts val="400"/>
              </a:spcAft>
            </a:pPr>
            <a:r>
              <a:rPr sz="3600" b="1" i="0">
                <a:solidFill>
                  <a:srgbClr val="9EE54D"/>
                </a:solidFill>
                <a:latin typeface="Calibri"/>
              </a:rPr>
              <a:t>B = 0.38</a:t>
            </a:r>
          </a:p>
        </p:txBody>
      </p:sp>
      <p:sp>
        <p:nvSpPr>
          <p:cNvPr id="14" name="TextBox 13"/>
          <p:cNvSpPr txBox="1"/>
          <p:nvPr/>
        </p:nvSpPr>
        <p:spPr>
          <a:xfrm>
            <a:off x="4251960" y="5669280"/>
            <a:ext cx="36576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Usefulness  -  Strongest Predictor</a:t>
            </a:r>
          </a:p>
        </p:txBody>
      </p:sp>
      <p:sp>
        <p:nvSpPr>
          <p:cNvPr id="15" name="Rounded Rectangle 14"/>
          <p:cNvSpPr/>
          <p:nvPr/>
        </p:nvSpPr>
        <p:spPr>
          <a:xfrm>
            <a:off x="8092440" y="4800600"/>
            <a:ext cx="3657600" cy="1417320"/>
          </a:xfrm>
          <a:prstGeom prst="roundRect">
            <a:avLst>
              <a:gd name="adj" fmla="val 5000"/>
            </a:avLst>
          </a:prstGeom>
          <a:gradFill flip="none" rotWithShape="1">
            <a:gsLst>
              <a:gs pos="0">
                <a:srgbClr val="1E4FB5"/>
              </a:gs>
              <a:gs pos="100000">
                <a:srgbClr val="2E5BFF"/>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92440" y="4937760"/>
            <a:ext cx="3657600" cy="777240"/>
          </a:xfrm>
          <a:prstGeom prst="rect">
            <a:avLst/>
          </a:prstGeom>
          <a:noFill/>
        </p:spPr>
        <p:txBody>
          <a:bodyPr wrap="square" lIns="36576" tIns="18288" rIns="36576" bIns="18288">
            <a:spAutoFit/>
          </a:bodyPr>
          <a:lstStyle/>
          <a:p>
            <a:pPr algn="ctr">
              <a:spcAft>
                <a:spcPts val="400"/>
              </a:spcAft>
            </a:pPr>
            <a:r>
              <a:rPr sz="3600" b="1" i="0">
                <a:solidFill>
                  <a:srgbClr val="FFB83B"/>
                </a:solidFill>
                <a:latin typeface="Calibri"/>
              </a:rPr>
              <a:t>B = 0.22</a:t>
            </a:r>
          </a:p>
        </p:txBody>
      </p:sp>
      <p:sp>
        <p:nvSpPr>
          <p:cNvPr id="17" name="TextBox 16"/>
          <p:cNvSpPr txBox="1"/>
          <p:nvPr/>
        </p:nvSpPr>
        <p:spPr>
          <a:xfrm>
            <a:off x="8092440" y="5669280"/>
            <a:ext cx="3657600" cy="365760"/>
          </a:xfrm>
          <a:prstGeom prst="rect">
            <a:avLst/>
          </a:prstGeom>
          <a:noFill/>
        </p:spPr>
        <p:txBody>
          <a:bodyPr wrap="square" lIns="36576" tIns="18288" rIns="36576" bIns="18288">
            <a:spAutoFit/>
          </a:bodyPr>
          <a:lstStyle/>
          <a:p>
            <a:pPr algn="ctr">
              <a:spcAft>
                <a:spcPts val="400"/>
              </a:spcAft>
            </a:pPr>
            <a:r>
              <a:rPr sz="1100" b="1" i="0">
                <a:solidFill>
                  <a:srgbClr val="FFFFFF"/>
                </a:solidFill>
                <a:latin typeface="Calibri"/>
              </a:rPr>
              <a:t>Security  -  Independent Driver</a:t>
            </a:r>
          </a:p>
        </p:txBody>
      </p:sp>
      <p:sp>
        <p:nvSpPr>
          <p:cNvPr id="18" name="Rectangle 17"/>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YONO 2.0  +  Consolidated Findings</a:t>
            </a:r>
          </a:p>
        </p:txBody>
      </p:sp>
      <p:pic>
        <p:nvPicPr>
          <p:cNvPr id="7" name="Picture 6" descr="future_ai.jpg"/>
          <p:cNvPicPr>
            <a:picLocks noChangeAspect="1"/>
          </p:cNvPicPr>
          <p:nvPr/>
        </p:nvPicPr>
        <p:blipFill>
          <a:blip r:embed="rId3"/>
          <a:stretch>
            <a:fillRect/>
          </a:stretch>
        </p:blipFill>
        <p:spPr>
          <a:xfrm>
            <a:off x="411480" y="868680"/>
            <a:ext cx="5760720" cy="5440680"/>
          </a:xfrm>
          <a:effectLst>
            <a:outerShdw blurRad="228600" dist="76200" dir="2700000" algn="tl" rotWithShape="0">
              <a:srgbClr val="000000">
                <a:alpha val="40000"/>
              </a:srgbClr>
            </a:outerShdw>
          </a:effectLst>
        </p:spPr>
      </p:pic>
      <p:sp>
        <p:nvSpPr>
          <p:cNvPr id="8" name="Rounded Rectangle 7"/>
          <p:cNvSpPr/>
          <p:nvPr/>
        </p:nvSpPr>
        <p:spPr>
          <a:xfrm>
            <a:off x="411480" y="868680"/>
            <a:ext cx="5760720" cy="5440680"/>
          </a:xfrm>
          <a:prstGeom prst="roundRect">
            <a:avLst>
              <a:gd name="adj" fmla="val 4000"/>
            </a:avLst>
          </a:prstGeom>
          <a:gradFill flip="none" rotWithShape="1">
            <a:gsLst>
              <a:gs pos="0">
                <a:srgbClr val="0A1F44"/>
              </a:gs>
              <a:gs pos="100000">
                <a:srgbClr val="2E5BFF"/>
              </a:gs>
            </a:gsLst>
            <a:lin ang="81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143000"/>
            <a:ext cx="5120640" cy="1188720"/>
          </a:xfrm>
          <a:prstGeom prst="rect">
            <a:avLst/>
          </a:prstGeom>
          <a:noFill/>
        </p:spPr>
        <p:txBody>
          <a:bodyPr wrap="square" lIns="36576" tIns="18288" rIns="36576" bIns="18288">
            <a:spAutoFit/>
          </a:bodyPr>
          <a:lstStyle/>
          <a:p>
            <a:pPr>
              <a:spcAft>
                <a:spcPts val="200"/>
              </a:spcAft>
            </a:pPr>
            <a:r>
              <a:rPr sz="4600" b="1" i="0">
                <a:solidFill>
                  <a:srgbClr val="FFFFFF"/>
                </a:solidFill>
                <a:latin typeface="Calibri"/>
              </a:rPr>
              <a:t>YONO 2.0</a:t>
            </a:r>
          </a:p>
          <a:p>
            <a:pPr>
              <a:spcAft>
                <a:spcPts val="0"/>
              </a:spcAft>
            </a:pPr>
            <a:r>
              <a:rPr sz="1500" b="1" i="0">
                <a:solidFill>
                  <a:srgbClr val="9EE54D"/>
                </a:solidFill>
                <a:latin typeface="Calibri"/>
              </a:rPr>
              <a:t>DECEMBER 2025 RESET</a:t>
            </a:r>
          </a:p>
        </p:txBody>
      </p:sp>
      <p:sp>
        <p:nvSpPr>
          <p:cNvPr id="10" name="TextBox 9"/>
          <p:cNvSpPr txBox="1"/>
          <p:nvPr/>
        </p:nvSpPr>
        <p:spPr>
          <a:xfrm>
            <a:off x="731520" y="2697480"/>
            <a:ext cx="5120640" cy="3429000"/>
          </a:xfrm>
          <a:prstGeom prst="rect">
            <a:avLst/>
          </a:prstGeom>
          <a:noFill/>
        </p:spPr>
        <p:txBody>
          <a:bodyPr wrap="square" lIns="36576" tIns="18288" rIns="36576" bIns="18288">
            <a:spAutoFit/>
          </a:bodyPr>
          <a:lstStyle/>
          <a:p>
            <a:pPr>
              <a:spcAft>
                <a:spcPts val="1000"/>
              </a:spcAft>
            </a:pPr>
            <a:r>
              <a:rPr sz="1300" b="0" i="0">
                <a:solidFill>
                  <a:srgbClr val="FFFFFF"/>
                </a:solidFill>
                <a:latin typeface="Calibri"/>
              </a:rPr>
              <a:t>•  Unified mobile + internet banking on a single tech stack</a:t>
            </a:r>
          </a:p>
          <a:p>
            <a:pPr>
              <a:spcAft>
                <a:spcPts val="1000"/>
              </a:spcAft>
            </a:pPr>
            <a:r>
              <a:rPr sz="1300" b="0" i="0">
                <a:solidFill>
                  <a:srgbClr val="FFFFFF"/>
                </a:solidFill>
                <a:latin typeface="Calibri"/>
              </a:rPr>
              <a:t>•  Lightweight design for low-end smartphones</a:t>
            </a:r>
          </a:p>
          <a:p>
            <a:pPr>
              <a:spcAft>
                <a:spcPts val="1000"/>
              </a:spcAft>
            </a:pPr>
            <a:r>
              <a:rPr sz="1300" b="0" i="0">
                <a:solidFill>
                  <a:srgbClr val="FFFFFF"/>
                </a:solidFill>
                <a:latin typeface="Calibri"/>
              </a:rPr>
              <a:t>•  15 regional languages</a:t>
            </a:r>
          </a:p>
          <a:p>
            <a:pPr>
              <a:spcAft>
                <a:spcPts val="1000"/>
              </a:spcAft>
            </a:pPr>
            <a:r>
              <a:rPr sz="1300" b="0" i="0">
                <a:solidFill>
                  <a:srgbClr val="FFFFFF"/>
                </a:solidFill>
                <a:latin typeface="Calibri"/>
              </a:rPr>
              <a:t>•  Spending Analyser + Credit Score Simulator + Carbon Tracker</a:t>
            </a:r>
          </a:p>
          <a:p>
            <a:pPr>
              <a:spcAft>
                <a:spcPts val="1000"/>
              </a:spcAft>
            </a:pPr>
            <a:r>
              <a:rPr sz="1300" b="0" i="0">
                <a:solidFill>
                  <a:srgbClr val="FFFFFF"/>
                </a:solidFill>
                <a:latin typeface="Calibri"/>
              </a:rPr>
              <a:t>•  6,500 new digital onboarding staff</a:t>
            </a:r>
          </a:p>
          <a:p>
            <a:pPr>
              <a:spcAft>
                <a:spcPts val="1000"/>
              </a:spcAft>
            </a:pPr>
            <a:r>
              <a:rPr sz="1300" b="0" i="0">
                <a:solidFill>
                  <a:srgbClr val="FFFFFF"/>
                </a:solidFill>
                <a:latin typeface="Calibri"/>
              </a:rPr>
              <a:t>•  Targeting 20 crore users (from 9.60 cr today)</a:t>
            </a:r>
          </a:p>
        </p:txBody>
      </p:sp>
      <p:sp>
        <p:nvSpPr>
          <p:cNvPr id="11" name="Rounded Rectangle 10"/>
          <p:cNvSpPr/>
          <p:nvPr/>
        </p:nvSpPr>
        <p:spPr>
          <a:xfrm>
            <a:off x="6355080" y="868680"/>
            <a:ext cx="5440680" cy="544068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1051560"/>
            <a:ext cx="4892040" cy="411480"/>
          </a:xfrm>
          <a:prstGeom prst="rect">
            <a:avLst/>
          </a:prstGeom>
          <a:noFill/>
        </p:spPr>
        <p:txBody>
          <a:bodyPr wrap="square" lIns="36576" tIns="18288" rIns="36576" bIns="18288">
            <a:spAutoFit/>
          </a:bodyPr>
          <a:lstStyle/>
          <a:p>
            <a:pPr>
              <a:spcAft>
                <a:spcPts val="400"/>
              </a:spcAft>
            </a:pPr>
            <a:r>
              <a:rPr sz="1500" b="1" i="0">
                <a:solidFill>
                  <a:srgbClr val="0A1F44"/>
                </a:solidFill>
                <a:latin typeface="Calibri"/>
              </a:rPr>
              <a:t>Consolidated Key Findings</a:t>
            </a:r>
          </a:p>
        </p:txBody>
      </p:sp>
      <p:sp>
        <p:nvSpPr>
          <p:cNvPr id="13" name="TextBox 12"/>
          <p:cNvSpPr txBox="1"/>
          <p:nvPr/>
        </p:nvSpPr>
        <p:spPr>
          <a:xfrm>
            <a:off x="6629400" y="1645920"/>
            <a:ext cx="4892040" cy="4480560"/>
          </a:xfrm>
          <a:prstGeom prst="rect">
            <a:avLst/>
          </a:prstGeom>
          <a:noFill/>
        </p:spPr>
        <p:txBody>
          <a:bodyPr wrap="square" lIns="36576" tIns="18288" rIns="36576" bIns="18288">
            <a:spAutoFit/>
          </a:bodyPr>
          <a:lstStyle/>
          <a:p>
            <a:pPr>
              <a:spcAft>
                <a:spcPts val="1000"/>
              </a:spcAft>
            </a:pPr>
            <a:r>
              <a:rPr sz="1300" b="0" i="0">
                <a:solidFill>
                  <a:srgbClr val="0A101F"/>
                </a:solidFill>
                <a:latin typeface="Calibri"/>
              </a:rPr>
              <a:t>•  62% use YONO weekly; 16.7% are passive registrants</a:t>
            </a:r>
          </a:p>
          <a:p>
            <a:pPr>
              <a:spcAft>
                <a:spcPts val="1000"/>
              </a:spcAft>
            </a:pPr>
            <a:r>
              <a:rPr sz="1300" b="0" i="0">
                <a:solidFill>
                  <a:srgbClr val="0A101F"/>
                </a:solidFill>
                <a:latin typeface="Calibri"/>
              </a:rPr>
              <a:t>•  PU mean 3.95 vs EoU mean 3.52  -  the satisfaction gap</a:t>
            </a:r>
          </a:p>
          <a:p>
            <a:pPr>
              <a:spcAft>
                <a:spcPts val="1000"/>
              </a:spcAft>
            </a:pPr>
            <a:r>
              <a:rPr sz="1300" b="0" i="0">
                <a:solidFill>
                  <a:srgbClr val="0A101F"/>
                </a:solidFill>
                <a:latin typeface="Calibri"/>
              </a:rPr>
              <a:t>•  60% satisfied; 25.3% neutral; 14.7% dissatisfied</a:t>
            </a:r>
          </a:p>
          <a:p>
            <a:pPr>
              <a:spcAft>
                <a:spcPts val="1000"/>
              </a:spcAft>
            </a:pPr>
            <a:r>
              <a:rPr sz="1300" b="0" i="0">
                <a:solidFill>
                  <a:srgbClr val="0A101F"/>
                </a:solidFill>
                <a:latin typeface="Calibri"/>
              </a:rPr>
              <a:t>•  Usefulness is the strongest predictor (B = 0.38)</a:t>
            </a:r>
          </a:p>
          <a:p>
            <a:pPr>
              <a:spcAft>
                <a:spcPts val="1000"/>
              </a:spcAft>
            </a:pPr>
            <a:r>
              <a:rPr sz="1300" b="0" i="0">
                <a:solidFill>
                  <a:srgbClr val="0A101F"/>
                </a:solidFill>
                <a:latin typeface="Calibri"/>
              </a:rPr>
              <a:t>•  Security independently drives satisfaction (B = 0.22)</a:t>
            </a:r>
          </a:p>
          <a:p>
            <a:pPr>
              <a:spcAft>
                <a:spcPts val="1000"/>
              </a:spcAft>
            </a:pPr>
            <a:r>
              <a:rPr sz="1300" b="0" i="0">
                <a:solidFill>
                  <a:srgbClr val="0A101F"/>
                </a:solidFill>
                <a:latin typeface="Calibri"/>
              </a:rPr>
              <a:t>•  Younger users (18-35) far more engaged (p = 0.011)</a:t>
            </a:r>
          </a:p>
        </p:txBody>
      </p:sp>
      <p:sp>
        <p:nvSpPr>
          <p:cNvPr id="14" name="Rectangle 13"/>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640080"/>
          </a:xfrm>
          <a:prstGeom prst="rect">
            <a:avLst/>
          </a:prstGeom>
          <a:gradFill flip="none" rotWithShape="1">
            <a:gsLst>
              <a:gs pos="0">
                <a:srgbClr val="0A1F44"/>
              </a:gs>
              <a:gs pos="50000">
                <a:srgbClr val="1B3A6B"/>
              </a:gs>
              <a:gs pos="100000">
                <a:srgbClr val="1E4FB5"/>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40080"/>
            <a:ext cx="12191695" cy="45720"/>
          </a:xfrm>
          <a:prstGeom prst="rect">
            <a:avLst/>
          </a:prstGeom>
          <a:gradFill flip="none" rotWithShape="1">
            <a:gsLst>
              <a:gs pos="0">
                <a:srgbClr val="00C8FF"/>
              </a:gs>
              <a:gs pos="50000">
                <a:srgbClr val="22A06B"/>
              </a:gs>
              <a:gs pos="100000">
                <a:srgbClr val="9EE54D"/>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118872"/>
            <a:ext cx="10058400" cy="457200"/>
          </a:xfrm>
          <a:prstGeom prst="rect">
            <a:avLst/>
          </a:prstGeom>
          <a:noFill/>
        </p:spPr>
        <p:txBody>
          <a:bodyPr wrap="square" lIns="36576" tIns="18288" rIns="36576" bIns="18288">
            <a:spAutoFit/>
          </a:bodyPr>
          <a:lstStyle/>
          <a:p>
            <a:pPr>
              <a:spcAft>
                <a:spcPts val="400"/>
              </a:spcAft>
            </a:pPr>
            <a:r>
              <a:rPr sz="2200" b="1" i="0">
                <a:solidFill>
                  <a:srgbClr val="FFFFFF"/>
                </a:solidFill>
                <a:latin typeface="Calibri"/>
              </a:rPr>
              <a:t>Evidence-Grounded Action Roadmap</a:t>
            </a:r>
          </a:p>
        </p:txBody>
      </p:sp>
      <p:sp>
        <p:nvSpPr>
          <p:cNvPr id="7" name="TextBox 6"/>
          <p:cNvSpPr txBox="1"/>
          <p:nvPr/>
        </p:nvSpPr>
        <p:spPr>
          <a:xfrm>
            <a:off x="548640" y="868680"/>
            <a:ext cx="10972800" cy="365760"/>
          </a:xfrm>
          <a:prstGeom prst="rect">
            <a:avLst/>
          </a:prstGeom>
          <a:noFill/>
        </p:spPr>
        <p:txBody>
          <a:bodyPr wrap="square" lIns="36576" tIns="18288" rIns="36576" bIns="18288">
            <a:spAutoFit/>
          </a:bodyPr>
          <a:lstStyle/>
          <a:p>
            <a:pPr>
              <a:spcAft>
                <a:spcPts val="400"/>
              </a:spcAft>
            </a:pPr>
            <a:r>
              <a:rPr sz="1300" b="0" i="1">
                <a:solidFill>
                  <a:srgbClr val="5A6478"/>
                </a:solidFill>
                <a:latin typeface="Calibri"/>
              </a:rPr>
              <a:t>Recommendations across four stakeholder groups  -  each traceable to a specific finding in the survey or expert interviews.</a:t>
            </a:r>
          </a:p>
        </p:txBody>
      </p:sp>
      <p:sp>
        <p:nvSpPr>
          <p:cNvPr id="8" name="Rounded Rectangle 7"/>
          <p:cNvSpPr/>
          <p:nvPr/>
        </p:nvSpPr>
        <p:spPr>
          <a:xfrm>
            <a:off x="411480" y="1371600"/>
            <a:ext cx="5669280" cy="2331720"/>
          </a:xfrm>
          <a:prstGeom prst="roundRect">
            <a:avLst>
              <a:gd name="adj" fmla="val 5000"/>
            </a:avLst>
          </a:prstGeom>
          <a:gradFill flip="none" rotWithShape="1">
            <a:gsLst>
              <a:gs pos="0">
                <a:srgbClr val="0A1F44"/>
              </a:gs>
              <a:gs pos="100000">
                <a:srgbClr val="00C8FF"/>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1554480"/>
            <a:ext cx="5120640" cy="411480"/>
          </a:xfrm>
          <a:prstGeom prst="rect">
            <a:avLst/>
          </a:prstGeom>
          <a:noFill/>
        </p:spPr>
        <p:txBody>
          <a:bodyPr wrap="square" lIns="36576" tIns="18288" rIns="36576" bIns="18288">
            <a:spAutoFit/>
          </a:bodyPr>
          <a:lstStyle/>
          <a:p>
            <a:pPr>
              <a:spcAft>
                <a:spcPts val="400"/>
              </a:spcAft>
            </a:pPr>
            <a:r>
              <a:rPr sz="1300" b="1" i="0">
                <a:solidFill>
                  <a:srgbClr val="00C8FF"/>
                </a:solidFill>
                <a:latin typeface="Calibri"/>
              </a:rPr>
              <a:t>FOR SBI / YONO TEAM</a:t>
            </a:r>
          </a:p>
        </p:txBody>
      </p:sp>
      <p:sp>
        <p:nvSpPr>
          <p:cNvPr id="10" name="TextBox 9"/>
          <p:cNvSpPr txBox="1"/>
          <p:nvPr/>
        </p:nvSpPr>
        <p:spPr>
          <a:xfrm>
            <a:off x="685800" y="2011680"/>
            <a:ext cx="5120640" cy="1554480"/>
          </a:xfrm>
          <a:prstGeom prst="rect">
            <a:avLst/>
          </a:prstGeom>
          <a:noFill/>
        </p:spPr>
        <p:txBody>
          <a:bodyPr wrap="square" lIns="36576" tIns="18288" rIns="36576" bIns="18288">
            <a:spAutoFit/>
          </a:bodyPr>
          <a:lstStyle/>
          <a:p>
            <a:pPr>
              <a:spcAft>
                <a:spcPts val="800"/>
              </a:spcAft>
            </a:pPr>
            <a:r>
              <a:rPr sz="1200" b="0" i="0">
                <a:solidFill>
                  <a:srgbClr val="FFFFFF"/>
                </a:solidFill>
                <a:latin typeface="Calibri"/>
              </a:rPr>
              <a:t>•  Redesign registration to a 3-step max flow</a:t>
            </a:r>
          </a:p>
          <a:p>
            <a:pPr>
              <a:spcAft>
                <a:spcPts val="800"/>
              </a:spcAft>
            </a:pPr>
            <a:r>
              <a:rPr sz="1200" b="0" i="0">
                <a:solidFill>
                  <a:srgbClr val="FFFFFF"/>
                </a:solidFill>
                <a:latin typeface="Calibri"/>
              </a:rPr>
              <a:t>•  Commit to a public 99.5% uptime SLA</a:t>
            </a:r>
          </a:p>
          <a:p>
            <a:pPr>
              <a:spcAft>
                <a:spcPts val="800"/>
              </a:spcAft>
            </a:pPr>
            <a:r>
              <a:rPr sz="1200" b="0" i="0">
                <a:solidFill>
                  <a:srgbClr val="FFFFFF"/>
                </a:solidFill>
                <a:latin typeface="Calibri"/>
              </a:rPr>
              <a:t>•  Launch YONO Silver Mode for 55+ users</a:t>
            </a:r>
          </a:p>
        </p:txBody>
      </p:sp>
      <p:sp>
        <p:nvSpPr>
          <p:cNvPr id="11" name="Rounded Rectangle 10"/>
          <p:cNvSpPr/>
          <p:nvPr/>
        </p:nvSpPr>
        <p:spPr>
          <a:xfrm>
            <a:off x="6263640" y="1371600"/>
            <a:ext cx="5669280" cy="2331720"/>
          </a:xfrm>
          <a:prstGeom prst="roundRect">
            <a:avLst>
              <a:gd name="adj" fmla="val 5000"/>
            </a:avLst>
          </a:prstGeom>
          <a:gradFill flip="none" rotWithShape="1">
            <a:gsLst>
              <a:gs pos="0">
                <a:srgbClr val="0A1F44"/>
              </a:gs>
              <a:gs pos="100000">
                <a:srgbClr val="2E5BFF"/>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537960" y="1554480"/>
            <a:ext cx="5120640" cy="411480"/>
          </a:xfrm>
          <a:prstGeom prst="rect">
            <a:avLst/>
          </a:prstGeom>
          <a:noFill/>
        </p:spPr>
        <p:txBody>
          <a:bodyPr wrap="square" lIns="36576" tIns="18288" rIns="36576" bIns="18288">
            <a:spAutoFit/>
          </a:bodyPr>
          <a:lstStyle/>
          <a:p>
            <a:pPr>
              <a:spcAft>
                <a:spcPts val="400"/>
              </a:spcAft>
            </a:pPr>
            <a:r>
              <a:rPr sz="1300" b="1" i="0">
                <a:solidFill>
                  <a:srgbClr val="2E5BFF"/>
                </a:solidFill>
                <a:latin typeface="Calibri"/>
              </a:rPr>
              <a:t>FOR BANKING &amp; FINTECH SECTOR</a:t>
            </a:r>
          </a:p>
        </p:txBody>
      </p:sp>
      <p:sp>
        <p:nvSpPr>
          <p:cNvPr id="13" name="TextBox 12"/>
          <p:cNvSpPr txBox="1"/>
          <p:nvPr/>
        </p:nvSpPr>
        <p:spPr>
          <a:xfrm>
            <a:off x="6537960" y="2011680"/>
            <a:ext cx="5120640" cy="1554480"/>
          </a:xfrm>
          <a:prstGeom prst="rect">
            <a:avLst/>
          </a:prstGeom>
          <a:noFill/>
        </p:spPr>
        <p:txBody>
          <a:bodyPr wrap="square" lIns="36576" tIns="18288" rIns="36576" bIns="18288">
            <a:spAutoFit/>
          </a:bodyPr>
          <a:lstStyle/>
          <a:p>
            <a:pPr>
              <a:spcAft>
                <a:spcPts val="800"/>
              </a:spcAft>
            </a:pPr>
            <a:r>
              <a:rPr sz="1200" b="0" i="0">
                <a:solidFill>
                  <a:srgbClr val="FFFFFF"/>
                </a:solidFill>
                <a:latin typeface="Calibri"/>
              </a:rPr>
              <a:t>•  Replace registered-user vanity metrics with MAU + depth</a:t>
            </a:r>
          </a:p>
          <a:p>
            <a:pPr>
              <a:spcAft>
                <a:spcPts val="800"/>
              </a:spcAft>
            </a:pPr>
            <a:r>
              <a:rPr sz="1200" b="0" i="0">
                <a:solidFill>
                  <a:srgbClr val="FFFFFF"/>
                </a:solidFill>
                <a:latin typeface="Calibri"/>
              </a:rPr>
              <a:t>•  Build behavioural credit scoring on UPI data</a:t>
            </a:r>
          </a:p>
          <a:p>
            <a:pPr>
              <a:spcAft>
                <a:spcPts val="800"/>
              </a:spcAft>
            </a:pPr>
            <a:r>
              <a:rPr sz="1200" b="0" i="0">
                <a:solidFill>
                  <a:srgbClr val="FFFFFF"/>
                </a:solidFill>
                <a:latin typeface="Calibri"/>
              </a:rPr>
              <a:t>•  Co-fund a shared digital-literacy infrastructure for rural India</a:t>
            </a:r>
          </a:p>
        </p:txBody>
      </p:sp>
      <p:sp>
        <p:nvSpPr>
          <p:cNvPr id="14" name="Rounded Rectangle 13"/>
          <p:cNvSpPr/>
          <p:nvPr/>
        </p:nvSpPr>
        <p:spPr>
          <a:xfrm>
            <a:off x="411480" y="3886200"/>
            <a:ext cx="5669280" cy="2331720"/>
          </a:xfrm>
          <a:prstGeom prst="roundRect">
            <a:avLst>
              <a:gd name="adj" fmla="val 5000"/>
            </a:avLst>
          </a:prstGeom>
          <a:gradFill flip="none" rotWithShape="1">
            <a:gsLst>
              <a:gs pos="0">
                <a:srgbClr val="0A1F44"/>
              </a:gs>
              <a:gs pos="100000">
                <a:srgbClr val="22A06B"/>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4069080"/>
            <a:ext cx="5120640" cy="411480"/>
          </a:xfrm>
          <a:prstGeom prst="rect">
            <a:avLst/>
          </a:prstGeom>
          <a:noFill/>
        </p:spPr>
        <p:txBody>
          <a:bodyPr wrap="square" lIns="36576" tIns="18288" rIns="36576" bIns="18288">
            <a:spAutoFit/>
          </a:bodyPr>
          <a:lstStyle/>
          <a:p>
            <a:pPr>
              <a:spcAft>
                <a:spcPts val="400"/>
              </a:spcAft>
            </a:pPr>
            <a:r>
              <a:rPr sz="1300" b="1" i="0">
                <a:solidFill>
                  <a:srgbClr val="22A06B"/>
                </a:solidFill>
                <a:latin typeface="Calibri"/>
              </a:rPr>
              <a:t>FOR REGULATORS  -  RBI / CERT-In</a:t>
            </a:r>
          </a:p>
        </p:txBody>
      </p:sp>
      <p:sp>
        <p:nvSpPr>
          <p:cNvPr id="16" name="TextBox 15"/>
          <p:cNvSpPr txBox="1"/>
          <p:nvPr/>
        </p:nvSpPr>
        <p:spPr>
          <a:xfrm>
            <a:off x="685800" y="4526280"/>
            <a:ext cx="5120640" cy="1554480"/>
          </a:xfrm>
          <a:prstGeom prst="rect">
            <a:avLst/>
          </a:prstGeom>
          <a:noFill/>
        </p:spPr>
        <p:txBody>
          <a:bodyPr wrap="square" lIns="36576" tIns="18288" rIns="36576" bIns="18288">
            <a:spAutoFit/>
          </a:bodyPr>
          <a:lstStyle/>
          <a:p>
            <a:pPr>
              <a:spcAft>
                <a:spcPts val="800"/>
              </a:spcAft>
            </a:pPr>
            <a:r>
              <a:rPr sz="1200" b="0" i="0">
                <a:solidFill>
                  <a:srgbClr val="FFFFFF"/>
                </a:solidFill>
                <a:latin typeface="Calibri"/>
              </a:rPr>
              <a:t>•  Mandate 30-second SLAs for failed UPI / mobile-banking transactions</a:t>
            </a:r>
          </a:p>
          <a:p>
            <a:pPr>
              <a:spcAft>
                <a:spcPts val="800"/>
              </a:spcAft>
            </a:pPr>
            <a:r>
              <a:rPr sz="1200" b="0" i="0">
                <a:solidFill>
                  <a:srgbClr val="FFFFFF"/>
                </a:solidFill>
                <a:latin typeface="Calibri"/>
              </a:rPr>
              <a:t>•  Accelerate the Account Aggregator rollout to all SCBs by 2026</a:t>
            </a:r>
          </a:p>
          <a:p>
            <a:pPr>
              <a:spcAft>
                <a:spcPts val="800"/>
              </a:spcAft>
            </a:pPr>
            <a:r>
              <a:rPr sz="1200" b="0" i="0">
                <a:solidFill>
                  <a:srgbClr val="FFFFFF"/>
                </a:solidFill>
                <a:latin typeface="Calibri"/>
              </a:rPr>
              <a:t>•  Mandate 24-hour cyber-incident disclosure to RBI</a:t>
            </a:r>
          </a:p>
        </p:txBody>
      </p:sp>
      <p:sp>
        <p:nvSpPr>
          <p:cNvPr id="17" name="Rounded Rectangle 16"/>
          <p:cNvSpPr/>
          <p:nvPr/>
        </p:nvSpPr>
        <p:spPr>
          <a:xfrm>
            <a:off x="6263640" y="3886200"/>
            <a:ext cx="5669280" cy="2331720"/>
          </a:xfrm>
          <a:prstGeom prst="roundRect">
            <a:avLst>
              <a:gd name="adj" fmla="val 5000"/>
            </a:avLst>
          </a:prstGeom>
          <a:gradFill flip="none" rotWithShape="1">
            <a:gsLst>
              <a:gs pos="0">
                <a:srgbClr val="0A1F44"/>
              </a:gs>
              <a:gs pos="100000">
                <a:srgbClr val="FFB83B"/>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537960" y="4069080"/>
            <a:ext cx="5120640" cy="411480"/>
          </a:xfrm>
          <a:prstGeom prst="rect">
            <a:avLst/>
          </a:prstGeom>
          <a:noFill/>
        </p:spPr>
        <p:txBody>
          <a:bodyPr wrap="square" lIns="36576" tIns="18288" rIns="36576" bIns="18288">
            <a:spAutoFit/>
          </a:bodyPr>
          <a:lstStyle/>
          <a:p>
            <a:pPr>
              <a:spcAft>
                <a:spcPts val="400"/>
              </a:spcAft>
            </a:pPr>
            <a:r>
              <a:rPr sz="1300" b="1" i="0">
                <a:solidFill>
                  <a:srgbClr val="FFB83B"/>
                </a:solidFill>
                <a:latin typeface="Calibri"/>
              </a:rPr>
              <a:t>FOR MBA STUDENTS</a:t>
            </a:r>
          </a:p>
        </p:txBody>
      </p:sp>
      <p:sp>
        <p:nvSpPr>
          <p:cNvPr id="19" name="TextBox 18"/>
          <p:cNvSpPr txBox="1"/>
          <p:nvPr/>
        </p:nvSpPr>
        <p:spPr>
          <a:xfrm>
            <a:off x="6537960" y="4526280"/>
            <a:ext cx="5120640" cy="1554480"/>
          </a:xfrm>
          <a:prstGeom prst="rect">
            <a:avLst/>
          </a:prstGeom>
          <a:noFill/>
        </p:spPr>
        <p:txBody>
          <a:bodyPr wrap="square" lIns="36576" tIns="18288" rIns="36576" bIns="18288">
            <a:spAutoFit/>
          </a:bodyPr>
          <a:lstStyle/>
          <a:p>
            <a:pPr>
              <a:spcAft>
                <a:spcPts val="800"/>
              </a:spcAft>
            </a:pPr>
            <a:r>
              <a:rPr sz="1200" b="0" i="0">
                <a:solidFill>
                  <a:srgbClr val="FFFFFF"/>
                </a:solidFill>
                <a:latin typeface="Calibri"/>
              </a:rPr>
              <a:t>•  Complete a certified financial data analytics course</a:t>
            </a:r>
          </a:p>
          <a:p>
            <a:pPr>
              <a:spcAft>
                <a:spcPts val="800"/>
              </a:spcAft>
            </a:pPr>
            <a:r>
              <a:rPr sz="1200" b="0" i="0">
                <a:solidFill>
                  <a:srgbClr val="FFFFFF"/>
                </a:solidFill>
                <a:latin typeface="Calibri"/>
              </a:rPr>
              <a:t>•  Master India's payment stack (UPI, NEFT, RTGS, IMPS, BBPS, AA)</a:t>
            </a:r>
          </a:p>
          <a:p>
            <a:pPr>
              <a:spcAft>
                <a:spcPts val="800"/>
              </a:spcAft>
            </a:pPr>
            <a:r>
              <a:rPr sz="1200" b="0" i="0">
                <a:solidFill>
                  <a:srgbClr val="FFFFFF"/>
                </a:solidFill>
                <a:latin typeface="Calibri"/>
              </a:rPr>
              <a:t>•  Seek an internship in digital-banking / fintech operations</a:t>
            </a:r>
          </a:p>
        </p:txBody>
      </p:sp>
      <p:sp>
        <p:nvSpPr>
          <p:cNvPr id="20" name="Rectangle 19"/>
          <p:cNvSpPr/>
          <p:nvPr/>
        </p:nvSpPr>
        <p:spPr>
          <a:xfrm>
            <a:off x="0" y="6492240"/>
            <a:ext cx="12191695" cy="365760"/>
          </a:xfrm>
          <a:prstGeom prst="rect">
            <a:avLst/>
          </a:prstGeom>
          <a:gradFill flip="none" rotWithShape="1">
            <a:gsLst>
              <a:gs pos="0">
                <a:srgbClr val="0A1F44"/>
              </a:gs>
              <a:gs pos="100000">
                <a:srgbClr val="1B3A6B"/>
              </a:gs>
            </a:gsLst>
            <a:lin ang="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flip="none" rotWithShape="1">
            <a:gsLst>
              <a:gs pos="0">
                <a:srgbClr val="0A1F44"/>
              </a:gs>
              <a:gs pos="50000">
                <a:srgbClr val="1E4FB5"/>
              </a:gs>
              <a:gs pos="100000">
                <a:srgbClr val="2E5BFF"/>
              </a:gs>
            </a:gsLst>
            <a:lin ang="8100000" scaled="1"/>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1828800" y="3657600"/>
            <a:ext cx="5486400" cy="5486400"/>
          </a:xfrm>
          <a:prstGeom prst="ellipse">
            <a:avLst/>
          </a:prstGeom>
          <a:solidFill>
            <a:srgbClr val="22A06B">
              <a:alpha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686800" y="-914400"/>
            <a:ext cx="5486400" cy="5486400"/>
          </a:xfrm>
          <a:prstGeom prst="ellipse">
            <a:avLst/>
          </a:prstGeom>
          <a:solidFill>
            <a:srgbClr val="00C8FF">
              <a:alpha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457200"/>
            <a:ext cx="11277295" cy="548640"/>
          </a:xfrm>
          <a:prstGeom prst="rect">
            <a:avLst/>
          </a:prstGeom>
          <a:noFill/>
        </p:spPr>
        <p:txBody>
          <a:bodyPr wrap="square" lIns="36576" tIns="18288" rIns="36576" bIns="18288">
            <a:spAutoFit/>
          </a:bodyPr>
          <a:lstStyle/>
          <a:p>
            <a:pPr algn="ctr">
              <a:spcAft>
                <a:spcPts val="400"/>
              </a:spcAft>
            </a:pPr>
            <a:r>
              <a:rPr sz="1800" b="1" i="0">
                <a:solidFill>
                  <a:srgbClr val="00C8FF"/>
                </a:solidFill>
                <a:latin typeface="Calibri"/>
              </a:rPr>
              <a:t>LIMITATIONS  -  CONCLUSION  -  THANK YOU</a:t>
            </a:r>
          </a:p>
        </p:txBody>
      </p:sp>
      <p:sp>
        <p:nvSpPr>
          <p:cNvPr id="6" name="Rounded Rectangle 5"/>
          <p:cNvSpPr/>
          <p:nvPr/>
        </p:nvSpPr>
        <p:spPr>
          <a:xfrm>
            <a:off x="457200" y="1188720"/>
            <a:ext cx="5532120" cy="3246120"/>
          </a:xfrm>
          <a:prstGeom prst="roundRect">
            <a:avLst>
              <a:gd name="adj" fmla="val 5000"/>
            </a:avLst>
          </a:prstGeom>
          <a:solidFill>
            <a:srgbClr val="FFFFFF"/>
          </a:soli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371600"/>
            <a:ext cx="4983480" cy="411480"/>
          </a:xfrm>
          <a:prstGeom prst="rect">
            <a:avLst/>
          </a:prstGeom>
          <a:noFill/>
        </p:spPr>
        <p:txBody>
          <a:bodyPr wrap="square" lIns="36576" tIns="18288" rIns="36576" bIns="18288">
            <a:spAutoFit/>
          </a:bodyPr>
          <a:lstStyle/>
          <a:p>
            <a:pPr>
              <a:spcAft>
                <a:spcPts val="400"/>
              </a:spcAft>
            </a:pPr>
            <a:r>
              <a:rPr sz="1500" b="1" i="0">
                <a:solidFill>
                  <a:srgbClr val="0A1F44"/>
                </a:solidFill>
                <a:latin typeface="Calibri"/>
              </a:rPr>
              <a:t>Limitations</a:t>
            </a:r>
          </a:p>
        </p:txBody>
      </p:sp>
      <p:sp>
        <p:nvSpPr>
          <p:cNvPr id="8" name="TextBox 7"/>
          <p:cNvSpPr txBox="1"/>
          <p:nvPr/>
        </p:nvSpPr>
        <p:spPr>
          <a:xfrm>
            <a:off x="731520" y="1828800"/>
            <a:ext cx="4983480" cy="2423160"/>
          </a:xfrm>
          <a:prstGeom prst="rect">
            <a:avLst/>
          </a:prstGeom>
          <a:noFill/>
        </p:spPr>
        <p:txBody>
          <a:bodyPr wrap="square" lIns="36576" tIns="18288" rIns="36576" bIns="18288">
            <a:spAutoFit/>
          </a:bodyPr>
          <a:lstStyle/>
          <a:p>
            <a:pPr>
              <a:spcAft>
                <a:spcPts val="800"/>
              </a:spcAft>
            </a:pPr>
            <a:r>
              <a:rPr sz="1100" b="0" i="0">
                <a:solidFill>
                  <a:srgbClr val="0A101F"/>
                </a:solidFill>
                <a:latin typeface="Calibri"/>
              </a:rPr>
              <a:t>•  Sample of 150 not nationally representative of 9.60 cr users</a:t>
            </a:r>
          </a:p>
          <a:p>
            <a:pPr>
              <a:spcAft>
                <a:spcPts val="800"/>
              </a:spcAft>
            </a:pPr>
            <a:r>
              <a:rPr sz="1100" b="0" i="0">
                <a:solidFill>
                  <a:srgbClr val="0A101F"/>
                </a:solidFill>
                <a:latin typeface="Calibri"/>
              </a:rPr>
              <a:t>•  Digital-channel survey under-represents the most digitally excluded</a:t>
            </a:r>
          </a:p>
          <a:p>
            <a:pPr>
              <a:spcAft>
                <a:spcPts val="800"/>
              </a:spcAft>
            </a:pPr>
            <a:r>
              <a:rPr sz="1100" b="0" i="0">
                <a:solidFill>
                  <a:srgbClr val="0A101F"/>
                </a:solidFill>
                <a:latin typeface="Calibri"/>
              </a:rPr>
              <a:t>•  Cross-sectional (no pre/post YONO 2.0 tracking)</a:t>
            </a:r>
          </a:p>
          <a:p>
            <a:pPr>
              <a:spcAft>
                <a:spcPts val="800"/>
              </a:spcAft>
            </a:pPr>
            <a:r>
              <a:rPr sz="1100" b="0" i="0">
                <a:solidFill>
                  <a:srgbClr val="0A101F"/>
                </a:solidFill>
                <a:latin typeface="Calibri"/>
              </a:rPr>
              <a:t>•  English-only questionnaire (Hindi on request)</a:t>
            </a:r>
          </a:p>
          <a:p>
            <a:pPr>
              <a:spcAft>
                <a:spcPts val="800"/>
              </a:spcAft>
            </a:pPr>
            <a:r>
              <a:rPr sz="1100" b="0" i="0">
                <a:solidFill>
                  <a:srgbClr val="0A101F"/>
                </a:solidFill>
                <a:latin typeface="Calibri"/>
              </a:rPr>
              <a:t>•  Single-platform focus (no benchmark vs ICICI / HDFC apps)</a:t>
            </a:r>
          </a:p>
        </p:txBody>
      </p:sp>
      <p:sp>
        <p:nvSpPr>
          <p:cNvPr id="9" name="Rounded Rectangle 8"/>
          <p:cNvSpPr/>
          <p:nvPr/>
        </p:nvSpPr>
        <p:spPr>
          <a:xfrm>
            <a:off x="6172200" y="1188720"/>
            <a:ext cx="5532120" cy="3246120"/>
          </a:xfrm>
          <a:prstGeom prst="roundRect">
            <a:avLst>
              <a:gd name="adj" fmla="val 5000"/>
            </a:avLst>
          </a:prstGeom>
          <a:gradFill flip="none" rotWithShape="1">
            <a:gsLst>
              <a:gs pos="0">
                <a:srgbClr val="22A06B"/>
              </a:gs>
              <a:gs pos="100000">
                <a:srgbClr val="12B79E"/>
              </a:gs>
            </a:gsLst>
            <a:lin ang="81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46520" y="1371600"/>
            <a:ext cx="4983480" cy="411480"/>
          </a:xfrm>
          <a:prstGeom prst="rect">
            <a:avLst/>
          </a:prstGeom>
          <a:noFill/>
        </p:spPr>
        <p:txBody>
          <a:bodyPr wrap="square" lIns="36576" tIns="18288" rIns="36576" bIns="18288">
            <a:spAutoFit/>
          </a:bodyPr>
          <a:lstStyle/>
          <a:p>
            <a:pPr>
              <a:spcAft>
                <a:spcPts val="400"/>
              </a:spcAft>
            </a:pPr>
            <a:r>
              <a:rPr sz="1500" b="1" i="0">
                <a:solidFill>
                  <a:srgbClr val="FFFFFF"/>
                </a:solidFill>
                <a:latin typeface="Calibri"/>
              </a:rPr>
              <a:t>Conclusion</a:t>
            </a:r>
          </a:p>
        </p:txBody>
      </p:sp>
      <p:sp>
        <p:nvSpPr>
          <p:cNvPr id="11" name="TextBox 10"/>
          <p:cNvSpPr txBox="1"/>
          <p:nvPr/>
        </p:nvSpPr>
        <p:spPr>
          <a:xfrm>
            <a:off x="6446520" y="1828800"/>
            <a:ext cx="4983480" cy="2423160"/>
          </a:xfrm>
          <a:prstGeom prst="rect">
            <a:avLst/>
          </a:prstGeom>
          <a:noFill/>
        </p:spPr>
        <p:txBody>
          <a:bodyPr wrap="square" lIns="36576" tIns="18288" rIns="36576" bIns="18288">
            <a:spAutoFit/>
          </a:bodyPr>
          <a:lstStyle/>
          <a:p>
            <a:pPr>
              <a:spcAft>
                <a:spcPts val="1000"/>
              </a:spcAft>
            </a:pPr>
            <a:r>
              <a:rPr sz="1200" b="0" i="0">
                <a:solidFill>
                  <a:srgbClr val="FFFFFF"/>
                </a:solidFill>
                <a:latin typeface="Calibri"/>
              </a:rPr>
              <a:t>Digital banking in India has crossed the point of no return.</a:t>
            </a:r>
          </a:p>
          <a:p>
            <a:pPr>
              <a:spcAft>
                <a:spcPts val="1000"/>
              </a:spcAft>
            </a:pPr>
            <a:r>
              <a:rPr sz="1200" b="0" i="0">
                <a:solidFill>
                  <a:srgbClr val="FFFFFF"/>
                </a:solidFill>
                <a:latin typeface="Calibri"/>
              </a:rPr>
              <a:t>YONO SBI shows that a 218-year-old public institution can achieve genuine digital scale  -  9.60 crore users and the world's largest neobank by MAUs in 2021  -  with focused investment.</a:t>
            </a:r>
          </a:p>
          <a:p>
            <a:pPr>
              <a:spcAft>
                <a:spcPts val="1000"/>
              </a:spcAft>
            </a:pPr>
            <a:r>
              <a:rPr sz="1200" b="0" i="0">
                <a:solidFill>
                  <a:srgbClr val="FFFFFF"/>
                </a:solidFill>
                <a:latin typeface="Calibri"/>
              </a:rPr>
              <a:t>The next chapter, written through YONO 2.0, will be decided by execution quality on usefulness, ease of use, and security.</a:t>
            </a:r>
          </a:p>
        </p:txBody>
      </p:sp>
      <p:sp>
        <p:nvSpPr>
          <p:cNvPr id="12" name="Rounded Rectangle 11"/>
          <p:cNvSpPr/>
          <p:nvPr/>
        </p:nvSpPr>
        <p:spPr>
          <a:xfrm>
            <a:off x="457200" y="4617720"/>
            <a:ext cx="11277295" cy="2011680"/>
          </a:xfrm>
          <a:prstGeom prst="roundRect">
            <a:avLst>
              <a:gd name="adj" fmla="val 5000"/>
            </a:avLst>
          </a:prstGeom>
          <a:gradFill flip="none" rotWithShape="1">
            <a:gsLst>
              <a:gs pos="0">
                <a:srgbClr val="0A1F44"/>
              </a:gs>
              <a:gs pos="50000">
                <a:srgbClr val="1E4FB5"/>
              </a:gs>
              <a:gs pos="100000">
                <a:srgbClr val="2E5BFF"/>
              </a:gs>
            </a:gsLst>
            <a:lin ang="5400000" scaled="1"/>
          </a:gradFill>
          <a:ln>
            <a:noFill/>
          </a:ln>
          <a:effectLst>
            <a:outerShdw blurRad="177800" dist="50800" dir="2700000" algn="tl" rotWithShape="0">
              <a:srgbClr val="000000">
                <a:alpha val="20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4846320"/>
            <a:ext cx="10908792" cy="1645920"/>
          </a:xfrm>
          <a:prstGeom prst="rect">
            <a:avLst/>
          </a:prstGeom>
          <a:noFill/>
        </p:spPr>
        <p:txBody>
          <a:bodyPr wrap="square" lIns="36576" tIns="18288" rIns="36576" bIns="18288">
            <a:spAutoFit/>
          </a:bodyPr>
          <a:lstStyle/>
          <a:p>
            <a:pPr algn="ctr">
              <a:spcAft>
                <a:spcPts val="1200"/>
              </a:spcAft>
            </a:pPr>
            <a:r>
              <a:rPr sz="3600" b="1" i="0">
                <a:solidFill>
                  <a:srgbClr val="FFFFFF"/>
                </a:solidFill>
                <a:latin typeface="Calibri"/>
              </a:rPr>
              <a:t>THANK YOU. QUESTIONS WELCOME.</a:t>
            </a:r>
          </a:p>
          <a:p>
            <a:pPr algn="ctr">
              <a:spcAft>
                <a:spcPts val="400"/>
              </a:spcAft>
            </a:pPr>
            <a:r>
              <a:rPr sz="1400" b="0" i="0">
                <a:solidFill>
                  <a:srgbClr val="00C8FF"/>
                </a:solidFill>
                <a:latin typeface="Calibri"/>
              </a:rPr>
              <a:t>Shalini Bharati  -  Enrollment O24MBA111548  -  Guide: Neha Bajaj</a:t>
            </a:r>
          </a:p>
          <a:p>
            <a:pPr algn="ctr">
              <a:spcAft>
                <a:spcPts val="400"/>
              </a:spcAft>
            </a:pPr>
            <a:r>
              <a:rPr sz="1200" b="0" i="1">
                <a:solidFill>
                  <a:srgbClr val="E7EEFB"/>
                </a:solidFill>
                <a:latin typeface="Calibri"/>
              </a:rPr>
              <a:t>Chandigarh University  -  CU Online  -  AY 2024-2026</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TotalTime>
  <Words>2427</Words>
  <Application>Microsoft Office PowerPoint</Application>
  <PresentationFormat>Widescreen</PresentationFormat>
  <Paragraphs>254</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Gursidak Singh</cp:lastModifiedBy>
  <cp:revision>3</cp:revision>
  <dcterms:created xsi:type="dcterms:W3CDTF">2013-01-27T09:14:16Z</dcterms:created>
  <dcterms:modified xsi:type="dcterms:W3CDTF">2026-05-01T19:31:51Z</dcterms:modified>
  <cp:category/>
</cp:coreProperties>
</file>